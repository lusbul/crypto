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8229600" cx="14630400"/>
  <p:notesSz cx="8229600" cy="146304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Overpas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9C9065-F7A0-4234-8DC1-46C66FE32F1E}">
  <a:tblStyle styleId="{C59C9065-F7A0-4234-8DC1-46C66FE32F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Overpass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Overpass-italic.fntdata"/><Relationship Id="rId23" Type="http://schemas.openxmlformats.org/officeDocument/2006/relationships/font" Target="fonts/Overpas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verpas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67bad73da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67bad73da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467bad73da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d97d9b7b6_0_102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d97d9b7b6_0_102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67bad73da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67bad73da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467bad73da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d97d9b7b6_0_109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d97d9b7b6_0_109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96ffd86c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96ffd86c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96ffd86c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96ffd86cf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96ffd86cf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96ffd86cf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d97d9b7b6_0_6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d97d9b7b6_0_6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5d97d9b7b6_0_6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d97d9b7b6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5d97d9b7b6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5d97d9b7b6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032360" y="4420360"/>
            <a:ext cx="10778400" cy="1855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9501194" y="40530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655778" y="40530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2" y="405306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154279" y="40530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0"/>
            <a:ext cx="14630400" cy="6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ctrTitle"/>
          </p:nvPr>
        </p:nvSpPr>
        <p:spPr>
          <a:xfrm>
            <a:off x="1097280" y="2533348"/>
            <a:ext cx="12435900" cy="1855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1097280" y="4544085"/>
            <a:ext cx="12435900" cy="1255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4876326" y="6388560"/>
            <a:ext cx="48762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754033" y="6388560"/>
            <a:ext cx="48762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" y="6388560"/>
            <a:ext cx="48762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-200" y="7728450"/>
            <a:ext cx="146304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" type="body"/>
          </p:nvPr>
        </p:nvSpPr>
        <p:spPr>
          <a:xfrm>
            <a:off x="2736680" y="3458880"/>
            <a:ext cx="9157800" cy="1311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69900" lvl="0" marL="457200" rtl="0" algn="ctr">
              <a:spcBef>
                <a:spcPts val="1000"/>
              </a:spcBef>
              <a:spcAft>
                <a:spcPts val="0"/>
              </a:spcAft>
              <a:buSzPts val="3800"/>
              <a:buChar char="▷"/>
              <a:defRPr i="1"/>
            </a:lvl1pPr>
            <a:lvl2pPr indent="-469900" lvl="1" marL="9144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2pPr>
            <a:lvl3pPr indent="-469900" lvl="2" marL="1371600" rtl="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3pPr>
            <a:lvl4pPr indent="-469900" lvl="3" marL="1828800" rtl="0" algn="ctr">
              <a:spcBef>
                <a:spcPts val="0"/>
              </a:spcBef>
              <a:spcAft>
                <a:spcPts val="0"/>
              </a:spcAft>
              <a:buSzPts val="3800"/>
              <a:buChar char="●"/>
              <a:defRPr i="1"/>
            </a:lvl4pPr>
            <a:lvl5pPr indent="-469900" lvl="4" marL="22860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5pPr>
            <a:lvl6pPr indent="-469900" lvl="5" marL="2743200" rtl="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6pPr>
            <a:lvl7pPr indent="-469900" lvl="6" marL="3200400" rtl="0" algn="ctr">
              <a:spcBef>
                <a:spcPts val="0"/>
              </a:spcBef>
              <a:spcAft>
                <a:spcPts val="0"/>
              </a:spcAft>
              <a:buSzPts val="3800"/>
              <a:buChar char="●"/>
              <a:defRPr i="1"/>
            </a:lvl7pPr>
            <a:lvl8pPr indent="-469900" lvl="7" marL="36576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8pPr>
            <a:lvl9pPr indent="-469900" lvl="8" marL="411480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5749440" y="1890270"/>
            <a:ext cx="31314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00">
                <a:solidFill>
                  <a:schemeClr val="accent6"/>
                </a:solidFill>
              </a:rPr>
              <a:t>“</a:t>
            </a:r>
            <a:endParaRPr b="1" sz="15400">
              <a:solidFill>
                <a:schemeClr val="accent6"/>
              </a:solidFill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9157253" y="2559480"/>
            <a:ext cx="27366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1894683" y="2559480"/>
            <a:ext cx="27366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" y="2559480"/>
            <a:ext cx="27366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2736679" y="2559480"/>
            <a:ext cx="273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-200" y="7728450"/>
            <a:ext cx="146304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12750" lvl="0" marL="457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900"/>
              <a:buChar char="▷"/>
              <a:defRPr>
                <a:solidFill>
                  <a:schemeClr val="dk1"/>
                </a:solidFill>
              </a:defRPr>
            </a:lvl1pPr>
            <a:lvl2pPr indent="-469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2pPr>
            <a:lvl3pPr indent="-469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  <a:defRPr>
                <a:solidFill>
                  <a:schemeClr val="dk1"/>
                </a:solidFill>
              </a:defRPr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  <a:defRPr>
                <a:solidFill>
                  <a:schemeClr val="dk1"/>
                </a:solidFill>
              </a:defRPr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5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None/>
              <a:defRPr b="1" sz="44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1429800" y="1920240"/>
            <a:ext cx="50190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31800" lvl="0" marL="45720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▷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●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●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1429920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5418246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59" name="Google Shape;59;p7"/>
          <p:cNvSpPr txBox="1"/>
          <p:nvPr>
            <p:ph idx="3" type="body"/>
          </p:nvPr>
        </p:nvSpPr>
        <p:spPr>
          <a:xfrm>
            <a:off x="9406571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1429920" y="7439940"/>
            <a:ext cx="10340100" cy="561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indent="-2286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0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">
  <p:cSld name="BLANK_1">
    <p:bg>
      <p:bgPr>
        <a:solidFill>
          <a:schemeClr val="accen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1" title="photo_2025-09-18_15-49-54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14475" y="1907150"/>
            <a:ext cx="5033100" cy="5033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 1">
  <p:cSld name="BLANK_1_1"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 1 1">
  <p:cSld name="BLANK_1_1_1">
    <p:bg>
      <p:bgPr>
        <a:solidFill>
          <a:schemeClr val="accen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11450" y="6813450"/>
            <a:ext cx="987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CE5CD"/>
                </a:solidFill>
                <a:latin typeface="Raleway"/>
                <a:ea typeface="Raleway"/>
                <a:cs typeface="Raleway"/>
                <a:sym typeface="Raleway"/>
              </a:rPr>
              <a:t>ЗАВДАННЯ </a:t>
            </a:r>
            <a:endParaRPr b="1" sz="4800">
              <a:solidFill>
                <a:srgbClr val="FCE5C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1" name="Google Shape;101;p13" title="eafd1209-e9c2-408c-b471-2dc2c919ed8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925" y="2404700"/>
            <a:ext cx="4408750" cy="44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3" name="Google Shape;10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6" name="Google Shape;10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9" name="Google Shape;10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8346914" y="70916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9501498" y="70916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-2278962" y="637950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-1" y="70916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_3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8346914" y="70916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9501498" y="70916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-2278962" y="637950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-1" y="70916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3">
  <p:cSld name="CAPTION_ONLY_3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5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5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4">
  <p:cSld name="CAPTION_ONLY_4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5">
  <p:cSld name="CAPTION_ONLY_5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6">
  <p:cSld name="CAPTION_ONLY_6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8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8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69900" lvl="0" marL="457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800"/>
              <a:buFont typeface="Lato"/>
              <a:buChar char="▷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69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469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●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●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ru.wikipedia.org/wiki/%D0%90%D1%82%D0%B1%D0%B0%D1%88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/>
        </p:nvSpPr>
        <p:spPr>
          <a:xfrm>
            <a:off x="858025" y="2846350"/>
            <a:ext cx="7836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Шифр Атбаш</a:t>
            </a:r>
            <a:endParaRPr b="1" sz="6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/>
        </p:nvSpPr>
        <p:spPr>
          <a:xfrm>
            <a:off x="104000" y="1582600"/>
            <a:ext cx="8467200" cy="17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Raleway"/>
                <a:ea typeface="Raleway"/>
                <a:cs typeface="Raleway"/>
                <a:sym typeface="Raleway"/>
              </a:rPr>
              <a:t>На івриті «алеф» замінюється на «тав», «бет» — на «шин», що й дало назву шифру (</a:t>
            </a:r>
            <a:r>
              <a:rPr i="1" lang="en-US" sz="2900">
                <a:latin typeface="Raleway"/>
                <a:ea typeface="Raleway"/>
                <a:cs typeface="Raleway"/>
                <a:sym typeface="Raleway"/>
              </a:rPr>
              <a:t>Алеф-Тав-Бет-Шин</a:t>
            </a:r>
            <a:r>
              <a:rPr lang="en-US" sz="2900">
                <a:latin typeface="Raleway"/>
                <a:ea typeface="Raleway"/>
                <a:cs typeface="Raleway"/>
                <a:sym typeface="Raleway"/>
              </a:rPr>
              <a:t>)</a:t>
            </a:r>
            <a:endParaRPr sz="3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9400" y="0"/>
            <a:ext cx="5241000" cy="79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 txBox="1"/>
          <p:nvPr/>
        </p:nvSpPr>
        <p:spPr>
          <a:xfrm>
            <a:off x="870440" y="435200"/>
            <a:ext cx="48000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Шифр Атбаш</a:t>
            </a:r>
            <a:endParaRPr sz="2200"/>
          </a:p>
        </p:txBody>
      </p:sp>
      <p:sp>
        <p:nvSpPr>
          <p:cNvPr id="182" name="Google Shape;182;p30"/>
          <p:cNvSpPr txBox="1"/>
          <p:nvPr/>
        </p:nvSpPr>
        <p:spPr>
          <a:xfrm>
            <a:off x="104000" y="4076480"/>
            <a:ext cx="8289000" cy="3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Raleway"/>
                <a:ea typeface="Raleway"/>
                <a:cs typeface="Raleway"/>
                <a:sym typeface="Raleway"/>
              </a:rPr>
              <a:t>У романі Дена Брауна шифр  Атбаш застосовується для розгадки деяких ключових елементів сюжету. </a:t>
            </a:r>
            <a:endParaRPr sz="2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Raleway"/>
                <a:ea typeface="Raleway"/>
                <a:cs typeface="Raleway"/>
                <a:sym typeface="Raleway"/>
              </a:rPr>
              <a:t>Наприклад, у главі 77 пояснюється, як слово «</a:t>
            </a:r>
            <a:r>
              <a:rPr lang="en-US" sz="2600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rPr>
              <a:t>Baphomet</a:t>
            </a:r>
            <a:r>
              <a:rPr lang="en-US" sz="2600">
                <a:latin typeface="Raleway"/>
                <a:ea typeface="Raleway"/>
                <a:cs typeface="Raleway"/>
                <a:sym typeface="Raleway"/>
              </a:rPr>
              <a:t>» (без голосних) перетворюється за допомогою Атбашу в набір літер, які утворюють слово «</a:t>
            </a:r>
            <a:r>
              <a:rPr lang="en-US" sz="26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Софія</a:t>
            </a:r>
            <a:r>
              <a:rPr lang="en-US" sz="2600">
                <a:latin typeface="Raleway"/>
                <a:ea typeface="Raleway"/>
                <a:cs typeface="Raleway"/>
                <a:sym typeface="Raleway"/>
              </a:rPr>
              <a:t>»  ( давньогрецькій мові «Софія» означає мудрість)</a:t>
            </a:r>
            <a:endParaRPr sz="29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/>
        </p:nvSpPr>
        <p:spPr>
          <a:xfrm>
            <a:off x="286225" y="975275"/>
            <a:ext cx="4577700" cy="6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4700">
                <a:latin typeface="Raleway"/>
                <a:ea typeface="Raleway"/>
                <a:cs typeface="Raleway"/>
                <a:sym typeface="Raleway"/>
              </a:rPr>
              <a:t>Біблійні таємниці</a:t>
            </a:r>
            <a:endParaRPr sz="4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latin typeface="Raleway"/>
                <a:ea typeface="Raleway"/>
                <a:cs typeface="Raleway"/>
                <a:sym typeface="Raleway"/>
              </a:rPr>
              <a:t>Шифр використовувався в Біблії для приховування важливих слів:</a:t>
            </a:r>
            <a:endParaRPr sz="2200"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US" sz="2200">
                <a:latin typeface="Raleway"/>
                <a:ea typeface="Raleway"/>
                <a:cs typeface="Raleway"/>
                <a:sym typeface="Raleway"/>
              </a:rPr>
              <a:t>У Книзі пророка Єремії (25:26, 51:41) слово «Шешах» — це Атбаш слова «Бабель» (Вавилон)</a:t>
            </a:r>
            <a:r>
              <a:rPr lang="en-US" sz="2200">
                <a:solidFill>
                  <a:schemeClr val="hlink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/>
              </a:rPr>
              <a:t>6</a:t>
            </a:r>
            <a:r>
              <a:rPr lang="en-US" sz="2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2200"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aleway"/>
              <a:buChar char="●"/>
            </a:pPr>
            <a:r>
              <a:rPr lang="en-US" sz="2200">
                <a:latin typeface="Raleway"/>
                <a:ea typeface="Raleway"/>
                <a:cs typeface="Raleway"/>
                <a:sym typeface="Raleway"/>
              </a:rPr>
              <a:t>Кумранські рукописи (наприклад, Свитки Мертвого моря) також містять зашифровані тексти</a:t>
            </a:r>
            <a:endParaRPr sz="2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7651" y="940852"/>
            <a:ext cx="4577800" cy="624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 title="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70251" y="1882838"/>
            <a:ext cx="4360150" cy="436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5350" y="4845150"/>
            <a:ext cx="3159600" cy="315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graphicFrame>
        <p:nvGraphicFramePr>
          <p:cNvPr id="196" name="Google Shape;196;p32"/>
          <p:cNvGraphicFramePr/>
          <p:nvPr/>
        </p:nvGraphicFramePr>
        <p:xfrm>
          <a:off x="-10" y="243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{C59C9065-F7A0-4234-8DC1-46C66FE32F1E}</a:tableStyleId>
              </a:tblPr>
              <a:tblGrid>
                <a:gridCol w="759400"/>
                <a:gridCol w="885925"/>
                <a:gridCol w="885925"/>
                <a:gridCol w="885925"/>
                <a:gridCol w="885925"/>
                <a:gridCol w="885925"/>
                <a:gridCol w="885925"/>
                <a:gridCol w="885925"/>
                <a:gridCol w="885925"/>
                <a:gridCol w="708775"/>
                <a:gridCol w="708775"/>
                <a:gridCol w="708775"/>
                <a:gridCol w="708775"/>
                <a:gridCol w="683450"/>
                <a:gridCol w="734075"/>
                <a:gridCol w="911300"/>
                <a:gridCol w="835300"/>
              </a:tblGrid>
              <a:tr h="157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А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Б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В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Г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г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Д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Е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Є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Ж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З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И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І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Ї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Й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К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Л</a:t>
                      </a:r>
                      <a:endParaRPr b="1" sz="4800">
                        <a:solidFill>
                          <a:srgbClr val="3D85C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6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10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11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12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13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14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E6913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15</a:t>
                      </a:r>
                      <a:endParaRPr b="1" sz="2400">
                        <a:solidFill>
                          <a:srgbClr val="E6913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7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М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Н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О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Т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Ф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Ч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Ц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Ч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Ш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Щ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Ь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Ю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Я</a:t>
                      </a:r>
                      <a:endParaRPr b="1" sz="4800">
                        <a:solidFill>
                          <a:srgbClr val="3C78D8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16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17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18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19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21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22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23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24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25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26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27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28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29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30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31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6D0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32</a:t>
                      </a:r>
                      <a:endParaRPr b="1" sz="2400">
                        <a:solidFill>
                          <a:srgbClr val="FF6D0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32"/>
          <p:cNvSpPr txBox="1"/>
          <p:nvPr/>
        </p:nvSpPr>
        <p:spPr>
          <a:xfrm>
            <a:off x="1035000" y="5498000"/>
            <a:ext cx="48000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Приклад: «КІТ» → ?</a:t>
            </a:r>
            <a:endParaRPr sz="3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idx="4294967295"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000000"/>
                </a:solidFill>
              </a:rPr>
              <a:t>Математичні моделі в криптографії</a:t>
            </a:r>
            <a:endParaRPr b="1" sz="4300">
              <a:solidFill>
                <a:srgbClr val="000000"/>
              </a:solidFill>
            </a:endParaRPr>
          </a:p>
        </p:txBody>
      </p:sp>
      <p:sp>
        <p:nvSpPr>
          <p:cNvPr id="204" name="Google Shape;204;p33"/>
          <p:cNvSpPr txBox="1"/>
          <p:nvPr>
            <p:ph idx="4294967295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Криптографія базується на математиці.</a:t>
            </a:r>
            <a:endParaRPr sz="2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Будь-який шифр можна подати як функцію:</a:t>
            </a:r>
            <a:endParaRPr sz="2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E(m) = c (шифрування)</a:t>
            </a:r>
            <a:endParaRPr b="1" sz="2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D(c) = m (дешифрування)</a:t>
            </a:r>
            <a:endParaRPr b="1" sz="2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Приклад:</a:t>
            </a:r>
            <a:endParaRPr sz="2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у шифрі Цезаря використовується формула:</a:t>
            </a:r>
            <a:endParaRPr sz="2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зсув по модулю довжини алфавіту</a:t>
            </a:r>
            <a:endParaRPr sz="2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/>
        </p:nvSpPr>
        <p:spPr>
          <a:xfrm>
            <a:off x="690775" y="2367275"/>
            <a:ext cx="10340100" cy="4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Raleway"/>
                <a:ea typeface="Raleway"/>
                <a:cs typeface="Raleway"/>
                <a:sym typeface="Raleway"/>
              </a:rPr>
              <a:t>Атбаш — це симетричне відображення алфавіту</a:t>
            </a:r>
            <a:endParaRPr sz="3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Raleway"/>
                <a:ea typeface="Raleway"/>
                <a:cs typeface="Raleway"/>
                <a:sym typeface="Raleway"/>
              </a:rPr>
              <a:t>Формула:</a:t>
            </a:r>
            <a:endParaRPr sz="3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latin typeface="Raleway"/>
                <a:ea typeface="Raleway"/>
                <a:cs typeface="Raleway"/>
                <a:sym typeface="Raleway"/>
              </a:rPr>
              <a:t>y = (n + 1) - x</a:t>
            </a:r>
            <a:r>
              <a:rPr lang="en-US" sz="3500">
                <a:latin typeface="Raleway"/>
                <a:ea typeface="Raleway"/>
                <a:cs typeface="Raleway"/>
                <a:sym typeface="Raleway"/>
              </a:rPr>
              <a:t>, де:</a:t>
            </a:r>
            <a:endParaRPr sz="3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Raleway"/>
                <a:ea typeface="Raleway"/>
                <a:cs typeface="Raleway"/>
                <a:sym typeface="Raleway"/>
              </a:rPr>
              <a:t>x — позиція літери</a:t>
            </a:r>
            <a:endParaRPr sz="3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Raleway"/>
                <a:ea typeface="Raleway"/>
                <a:cs typeface="Raleway"/>
                <a:sym typeface="Raleway"/>
              </a:rPr>
              <a:t>n — розмір алфавіту</a:t>
            </a:r>
            <a:endParaRPr sz="3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Raleway"/>
                <a:ea typeface="Raleway"/>
                <a:cs typeface="Raleway"/>
                <a:sym typeface="Raleway"/>
              </a:rPr>
              <a:t>Це приклад простої лінійної трансформації</a:t>
            </a:r>
            <a:endParaRPr sz="35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1429920" y="7439940"/>
            <a:ext cx="10340100" cy="561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4"/>
          <p:cNvSpPr txBox="1"/>
          <p:nvPr/>
        </p:nvSpPr>
        <p:spPr>
          <a:xfrm>
            <a:off x="398800" y="942600"/>
            <a:ext cx="14048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Raleway"/>
                <a:ea typeface="Raleway"/>
                <a:cs typeface="Raleway"/>
                <a:sym typeface="Raleway"/>
              </a:rPr>
              <a:t>Математична модель шифру Атбаш</a:t>
            </a:r>
            <a:endParaRPr b="1" sz="33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/>
        </p:nvSpPr>
        <p:spPr>
          <a:xfrm>
            <a:off x="0" y="0"/>
            <a:ext cx="10196100" cy="7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def atbash_ukr(text)</a:t>
            </a: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   alphabet = "АБВГҐДЕЄЖЗИІЇЙКЛМНОПРСТУФХЦЧШЩЬЮЯ"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   reversed_alphabet = alphabet[::-1]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   result = ""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   for char in text.upper():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2700"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if char in alphabet:</a:t>
            </a:r>
            <a:endParaRPr sz="2700"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2700">
                <a:highlight>
                  <a:srgbClr val="A4C2F4"/>
                </a:highlight>
                <a:latin typeface="Consolas"/>
                <a:ea typeface="Consolas"/>
                <a:cs typeface="Consolas"/>
                <a:sym typeface="Consolas"/>
              </a:rPr>
              <a:t>index = alphabet.index(char)</a:t>
            </a:r>
            <a:endParaRPr sz="2700">
              <a:highlight>
                <a:srgbClr val="A4C2F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700">
                <a:solidFill>
                  <a:srgbClr val="0A6CC2"/>
                </a:solidFill>
                <a:latin typeface="Consolas"/>
                <a:ea typeface="Consolas"/>
                <a:cs typeface="Consolas"/>
                <a:sym typeface="Consolas"/>
              </a:rPr>
              <a:t> result += reversed_alphabet[index]</a:t>
            </a:r>
            <a:endParaRPr sz="2700">
              <a:solidFill>
                <a:srgbClr val="0A6CC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       else: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700">
                <a:solidFill>
                  <a:srgbClr val="FF6D01"/>
                </a:solidFill>
                <a:latin typeface="Consolas"/>
                <a:ea typeface="Consolas"/>
                <a:cs typeface="Consolas"/>
                <a:sym typeface="Consolas"/>
              </a:rPr>
              <a:t> result += char  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   return result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# Приклад використання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message = "КРИПТИК"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highlight>
                  <a:srgbClr val="FF9900"/>
                </a:highlight>
                <a:latin typeface="Consolas"/>
                <a:ea typeface="Consolas"/>
                <a:cs typeface="Consolas"/>
                <a:sym typeface="Consolas"/>
              </a:rPr>
              <a:t>ciphered = atbash_ukr(message)</a:t>
            </a:r>
            <a:endParaRPr sz="2700">
              <a:highlight>
                <a:srgbClr val="FF99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print("Зашифровано:", ciphered)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19" name="Google Shape;219;p35" title="qr atbas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8375" y="1422051"/>
            <a:ext cx="5612524" cy="561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6" title="Єpyth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8800" y="2454275"/>
            <a:ext cx="5340350" cy="534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8800" y="85363"/>
            <a:ext cx="4933950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6"/>
          <p:cNvSpPr txBox="1"/>
          <p:nvPr/>
        </p:nvSpPr>
        <p:spPr>
          <a:xfrm>
            <a:off x="136600" y="412850"/>
            <a:ext cx="86763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Скопіюйте код з попереднього слайда та перевірте його в середовищі</a:t>
            </a:r>
            <a:endParaRPr sz="4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8" name="Google Shape;228;p36"/>
          <p:cNvSpPr txBox="1"/>
          <p:nvPr/>
        </p:nvSpPr>
        <p:spPr>
          <a:xfrm>
            <a:off x="4082000" y="3893100"/>
            <a:ext cx="4934100" cy="246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Чи можете ви переробити цей код</a:t>
            </a:r>
            <a:r>
              <a:rPr lang="en-US" sz="3700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, щоб</a:t>
            </a:r>
            <a:r>
              <a:rPr lang="en-US" sz="3700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 він виконував дешифрування?</a:t>
            </a:r>
            <a:endParaRPr sz="800">
              <a:solidFill>
                <a:srgbClr val="403C4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