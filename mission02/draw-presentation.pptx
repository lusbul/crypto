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8229600" cx="14630400"/>
  <p:notesSz cx="8229600" cy="14630400"/>
  <p:embeddedFontLst>
    <p:embeddedFont>
      <p:font typeface="Raleway"/>
      <p:regular r:id="rId11"/>
      <p:bold r:id="rId12"/>
      <p:italic r:id="rId13"/>
      <p:boldItalic r:id="rId14"/>
    </p:embeddedFon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font" Target="fonts/Raleway-regular.fntdata"/><Relationship Id="rId10" Type="http://schemas.openxmlformats.org/officeDocument/2006/relationships/slide" Target="slides/slide6.xml"/><Relationship Id="rId13" Type="http://schemas.openxmlformats.org/officeDocument/2006/relationships/font" Target="fonts/Raleway-italic.fntdata"/><Relationship Id="rId12" Type="http://schemas.openxmlformats.org/officeDocument/2006/relationships/font" Target="fonts/Raleway-bold.fntdata"/><Relationship Id="rId15" Type="http://schemas.openxmlformats.org/officeDocument/2006/relationships/font" Target="fonts/Lato-regular.fntdata"/><Relationship Id="rId14" Type="http://schemas.openxmlformats.org/officeDocument/2006/relationships/font" Target="fonts/Raleway-boldItalic.fntdata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18" Type="http://schemas.openxmlformats.org/officeDocument/2006/relationships/font" Target="fonts/La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67bad73da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67bad73da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467bad73da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e3cda82f8_2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3e3cda82f8_2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3e3cda82f8_2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36858f33a3_1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36858f33a3_1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36858f33a3_1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d97d9b7b6_0_5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d97d9b7b6_0_5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5d97d9b7b6_0_5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67e0325d2a_0_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67e0325d2a_0_1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67e0325d2a_0_1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d97d9b7b6_0_5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d97d9b7b6_0_5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5d97d9b7b6_0_5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032360" y="4420360"/>
            <a:ext cx="10778400" cy="18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0"/>
              <a:buNone/>
              <a:defRPr sz="7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9501194" y="40530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0655778" y="40530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" y="405306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1154279" y="40530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0" y="0"/>
            <a:ext cx="14630400" cy="6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ctrTitle"/>
          </p:nvPr>
        </p:nvSpPr>
        <p:spPr>
          <a:xfrm>
            <a:off x="1097280" y="2533348"/>
            <a:ext cx="12435900" cy="1855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700"/>
              <a:buNone/>
              <a:defRPr sz="77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1097280" y="4544085"/>
            <a:ext cx="12435900" cy="1255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  <a:defRPr b="1" sz="3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/>
          <p:nvPr/>
        </p:nvSpPr>
        <p:spPr>
          <a:xfrm>
            <a:off x="4876326" y="6388560"/>
            <a:ext cx="48762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9754033" y="6388560"/>
            <a:ext cx="48762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2" y="6388560"/>
            <a:ext cx="48762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" type="body"/>
          </p:nvPr>
        </p:nvSpPr>
        <p:spPr>
          <a:xfrm>
            <a:off x="2736680" y="3458880"/>
            <a:ext cx="9157800" cy="1311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 rtl="0" algn="ctr">
              <a:spcBef>
                <a:spcPts val="1000"/>
              </a:spcBef>
              <a:spcAft>
                <a:spcPts val="0"/>
              </a:spcAft>
              <a:buSzPts val="3800"/>
              <a:buChar char="▷"/>
              <a:defRPr i="1"/>
            </a:lvl1pPr>
            <a:lvl2pPr indent="-469900" lvl="1" marL="9144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2pPr>
            <a:lvl3pPr indent="-469900" lvl="2" marL="13716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3pPr>
            <a:lvl4pPr indent="-469900" lvl="3" marL="18288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4pPr>
            <a:lvl5pPr indent="-469900" lvl="4" marL="22860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5pPr>
            <a:lvl6pPr indent="-469900" lvl="5" marL="2743200" rtl="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6pPr>
            <a:lvl7pPr indent="-469900" lvl="6" marL="3200400" rtl="0" algn="ctr">
              <a:spcBef>
                <a:spcPts val="0"/>
              </a:spcBef>
              <a:spcAft>
                <a:spcPts val="0"/>
              </a:spcAft>
              <a:buSzPts val="3800"/>
              <a:buChar char="●"/>
              <a:defRPr i="1"/>
            </a:lvl7pPr>
            <a:lvl8pPr indent="-469900" lvl="7" marL="3657600" rtl="0" algn="ctr">
              <a:spcBef>
                <a:spcPts val="0"/>
              </a:spcBef>
              <a:spcAft>
                <a:spcPts val="0"/>
              </a:spcAft>
              <a:buSzPts val="3800"/>
              <a:buChar char="○"/>
              <a:defRPr i="1"/>
            </a:lvl8pPr>
            <a:lvl9pPr indent="-469900" lvl="8" marL="4114800" algn="ctr">
              <a:spcBef>
                <a:spcPts val="0"/>
              </a:spcBef>
              <a:spcAft>
                <a:spcPts val="0"/>
              </a:spcAft>
              <a:buSzPts val="3800"/>
              <a:buChar char="■"/>
              <a:defRPr i="1"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5749440" y="1890270"/>
            <a:ext cx="31314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00">
                <a:solidFill>
                  <a:schemeClr val="accent6"/>
                </a:solidFill>
              </a:rPr>
              <a:t>“</a:t>
            </a:r>
            <a:endParaRPr b="1" sz="15400">
              <a:solidFill>
                <a:schemeClr val="accent6"/>
              </a:solidFill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157253" y="2559480"/>
            <a:ext cx="27366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894683" y="2559480"/>
            <a:ext cx="27366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" y="2559480"/>
            <a:ext cx="27366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2736679" y="2559480"/>
            <a:ext cx="273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-200" y="7728450"/>
            <a:ext cx="146304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1275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900"/>
              <a:buChar char="▷"/>
              <a:defRPr>
                <a:solidFill>
                  <a:schemeClr val="dk1"/>
                </a:solidFill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  <a:defRPr>
                <a:solidFill>
                  <a:schemeClr val="dk1"/>
                </a:solidFill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○"/>
              <a:defRPr>
                <a:solidFill>
                  <a:schemeClr val="dk1"/>
                </a:solidFill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  <a:defRPr b="1" sz="4400"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" type="body"/>
          </p:nvPr>
        </p:nvSpPr>
        <p:spPr>
          <a:xfrm>
            <a:off x="1429800" y="1920240"/>
            <a:ext cx="50190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31800" lvl="0" marL="45720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▷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4318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4318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4318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4318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4318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4318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●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4318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○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4318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Raleway"/>
              <a:buChar char="■"/>
              <a:defRPr sz="32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1429920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8" name="Google Shape;58;p7"/>
          <p:cNvSpPr txBox="1"/>
          <p:nvPr>
            <p:ph idx="2" type="body"/>
          </p:nvPr>
        </p:nvSpPr>
        <p:spPr>
          <a:xfrm>
            <a:off x="5418246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59" name="Google Shape;59;p7"/>
          <p:cNvSpPr txBox="1"/>
          <p:nvPr>
            <p:ph idx="3" type="body"/>
          </p:nvPr>
        </p:nvSpPr>
        <p:spPr>
          <a:xfrm>
            <a:off x="9406571" y="1920240"/>
            <a:ext cx="3793800" cy="596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368300" lvl="0" marL="457200" rtl="0">
              <a:spcBef>
                <a:spcPts val="1000"/>
              </a:spcBef>
              <a:spcAft>
                <a:spcPts val="0"/>
              </a:spcAft>
              <a:buSzPts val="2200"/>
              <a:buChar char="▷"/>
              <a:defRPr sz="2200"/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Char char="○"/>
              <a:defRPr sz="2200"/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Char char="■"/>
              <a:defRPr sz="2200"/>
            </a:lvl9pPr>
          </a:lstStyle>
          <a:p/>
        </p:txBody>
      </p:sp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1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1429920" y="7439940"/>
            <a:ext cx="10340100" cy="561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Autofit/>
          </a:bodyPr>
          <a:lstStyle>
            <a:lvl1pPr indent="-2286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">
  <p:cSld name="BLANK_1">
    <p:bg>
      <p:bgPr>
        <a:solidFill>
          <a:schemeClr val="accen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1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1" title="photo_2025-09-18_15-49-54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14475" y="1907150"/>
            <a:ext cx="5033100" cy="5033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">
  <p:cSld name="BLANK_1_1">
    <p:bg>
      <p:bgPr>
        <a:solidFill>
          <a:schemeClr val="accen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 background 1 1">
  <p:cSld name="BLANK_1_1_1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11450" y="6813450"/>
            <a:ext cx="987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CE5CD"/>
                </a:solidFill>
                <a:latin typeface="Raleway"/>
                <a:ea typeface="Raleway"/>
                <a:cs typeface="Raleway"/>
                <a:sym typeface="Raleway"/>
              </a:rPr>
              <a:t>ЗАВДАННЯ </a:t>
            </a:r>
            <a:endParaRPr b="1" sz="4800">
              <a:solidFill>
                <a:srgbClr val="FCE5C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1" name="Google Shape;101;p13" title="eafd1209-e9c2-408c-b471-2dc2c919ed8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925" y="2404700"/>
            <a:ext cx="4408750" cy="44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3" name="Google Shape;10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6" name="Google Shape;106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9" name="Google Shape;109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8" name="Google Shape;11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2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3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8346914" y="7091660"/>
            <a:ext cx="11550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/>
          <p:nvPr/>
        </p:nvSpPr>
        <p:spPr>
          <a:xfrm>
            <a:off x="9501498" y="7091660"/>
            <a:ext cx="11550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3"/>
          <p:cNvSpPr/>
          <p:nvPr/>
        </p:nvSpPr>
        <p:spPr>
          <a:xfrm>
            <a:off x="-2278962" y="6379500"/>
            <a:ext cx="11550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/>
          <p:nvPr/>
        </p:nvSpPr>
        <p:spPr>
          <a:xfrm>
            <a:off x="-1" y="7091660"/>
            <a:ext cx="83466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4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3">
  <p:cSld name="CAPTION_ONLY_3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5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5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4">
  <p:cSld name="CAPTION_ONLY_4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6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6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6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5">
  <p:cSld name="CAPTION_ONLY_5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7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6">
  <p:cSld name="CAPTION_ONLY_6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/>
          <p:nvPr/>
        </p:nvSpPr>
        <p:spPr>
          <a:xfrm>
            <a:off x="11770186" y="8106120"/>
            <a:ext cx="1429800" cy="123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13200499" y="8106120"/>
            <a:ext cx="1429800" cy="123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/>
          <p:nvPr/>
        </p:nvSpPr>
        <p:spPr>
          <a:xfrm>
            <a:off x="-1" y="8106120"/>
            <a:ext cx="1429800" cy="12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8"/>
          <p:cNvSpPr/>
          <p:nvPr/>
        </p:nvSpPr>
        <p:spPr>
          <a:xfrm>
            <a:off x="1429935" y="8106120"/>
            <a:ext cx="10340100" cy="12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429920" y="573420"/>
            <a:ext cx="103401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146275" lIns="146275" spcFirstLastPara="1" rIns="146275" wrap="square" tIns="146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100"/>
              <a:buFont typeface="Raleway"/>
              <a:buNone/>
              <a:defRPr sz="5100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1429920" y="2197740"/>
            <a:ext cx="10340100" cy="56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indent="-469900" lvl="0" marL="457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Lato"/>
              <a:buChar char="▷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699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699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699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69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69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69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●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69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○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69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ato"/>
              <a:buChar char="■"/>
              <a:defRPr sz="3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68920" y="7515092"/>
            <a:ext cx="8778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Autofit/>
          </a:bodyPr>
          <a:lstStyle>
            <a:lvl1pPr lvl="0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1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hyperlink" Target="http://www.youtube.com/watch?v=Zx6Dr1iJ4p8" TargetMode="External"/><Relationship Id="rId6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858025" y="2846350"/>
            <a:ext cx="7836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Графічні шифри</a:t>
            </a:r>
            <a:endParaRPr b="1" sz="66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3225" y="215850"/>
            <a:ext cx="7718025" cy="377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750" y="1023738"/>
            <a:ext cx="4818100" cy="618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 title="Jeremy Brett as Sherlock Holmes - The Dancing Men [HD]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9850" y="4313525"/>
            <a:ext cx="6547695" cy="36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 txBox="1"/>
          <p:nvPr/>
        </p:nvSpPr>
        <p:spPr>
          <a:xfrm>
            <a:off x="0" y="0"/>
            <a:ext cx="13901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Таємні шифри таємних організацій</a:t>
            </a:r>
            <a:endParaRPr sz="50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25" y="2322075"/>
            <a:ext cx="4629825" cy="488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31658" l="0" r="0" t="30966"/>
          <a:stretch/>
        </p:blipFill>
        <p:spPr>
          <a:xfrm>
            <a:off x="5120700" y="3523225"/>
            <a:ext cx="9044575" cy="225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2" title="234e027f-24d8-4f7b-a212-27bca1e3c19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421800"/>
            <a:ext cx="3655401" cy="365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2"/>
          <p:cNvSpPr txBox="1"/>
          <p:nvPr/>
        </p:nvSpPr>
        <p:spPr>
          <a:xfrm>
            <a:off x="319250" y="193750"/>
            <a:ext cx="11798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Піг Пен</a:t>
            </a:r>
            <a:endParaRPr sz="50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200" y="1946625"/>
            <a:ext cx="1488771" cy="15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325" y="-17625"/>
            <a:ext cx="4362076" cy="436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2" title="Pigpen_cipher_key.svg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7799" y="1468925"/>
            <a:ext cx="6267100" cy="62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3" title="234e027f-24d8-4f7b-a212-27bca1e3c19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807700"/>
            <a:ext cx="4269499" cy="426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/>
        </p:nvSpPr>
        <p:spPr>
          <a:xfrm>
            <a:off x="224850" y="703400"/>
            <a:ext cx="11798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FF6D01"/>
                </a:solidFill>
                <a:latin typeface="Raleway"/>
                <a:ea typeface="Raleway"/>
                <a:cs typeface="Raleway"/>
                <a:sym typeface="Raleway"/>
              </a:rPr>
              <a:t>Шифр Піг Пен</a:t>
            </a:r>
            <a:endParaRPr sz="5000">
              <a:solidFill>
                <a:srgbClr val="FF6D0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200" y="1946625"/>
            <a:ext cx="1488771" cy="15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52750" y="1832950"/>
            <a:ext cx="9889850" cy="5091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/>
        </p:nvSpPr>
        <p:spPr>
          <a:xfrm>
            <a:off x="4080625" y="495150"/>
            <a:ext cx="10045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Розшифровуємо повідомлення </a:t>
            </a:r>
            <a:endParaRPr b="1" sz="40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800"/>
              </a:spcBef>
              <a:spcAft>
                <a:spcPts val="480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За допомогою таблиці розшифруйте текст, який ви отримали.</a:t>
            </a:r>
            <a:br>
              <a:rPr lang="en-US" sz="40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endParaRPr sz="2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16" name="Google Shape;216;p34" title="5325577607170879604_1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8400" y="3576225"/>
            <a:ext cx="8660624" cy="397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ntonio template">
  <a:themeElements>
    <a:clrScheme name="Custom 347">
      <a:dk1>
        <a:srgbClr val="677480"/>
      </a:dk1>
      <a:lt1>
        <a:srgbClr val="FFFFFF"/>
      </a:lt1>
      <a:dk2>
        <a:srgbClr val="2185C5"/>
      </a:dk2>
      <a:lt2>
        <a:srgbClr val="DEE2E6"/>
      </a:lt2>
      <a:accent1>
        <a:srgbClr val="2185C5"/>
      </a:accent1>
      <a:accent2>
        <a:srgbClr val="7ECEFD"/>
      </a:accent2>
      <a:accent3>
        <a:srgbClr val="F20253"/>
      </a:accent3>
      <a:accent4>
        <a:srgbClr val="FF9715"/>
      </a:accent4>
      <a:accent5>
        <a:srgbClr val="1C3AA9"/>
      </a:accent5>
      <a:accent6>
        <a:srgbClr val="97ABBC"/>
      </a:accent6>
      <a:hlink>
        <a:srgbClr val="2185C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