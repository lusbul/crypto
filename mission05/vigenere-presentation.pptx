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8229600" cx="14630400"/>
  <p:notesSz cx="8229600" cy="14630400"/>
  <p:embeddedFontLst>
    <p:embeddedFont>
      <p:font typeface="Raleway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Overpass"/>
      <p:regular r:id="rId35"/>
      <p:bold r:id="rId36"/>
      <p:italic r:id="rId37"/>
      <p:boldItalic r:id="rId38"/>
    </p:embeddedFont>
    <p:embeddedFont>
      <p:font typeface="Syne"/>
      <p:regular r:id="rId39"/>
      <p:bold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yne-bold.fntdata"/><Relationship Id="rId20" Type="http://schemas.openxmlformats.org/officeDocument/2006/relationships/slide" Target="slides/slide16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8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7.xml"/><Relationship Id="rId43" Type="http://schemas.openxmlformats.org/officeDocument/2006/relationships/font" Target="fonts/OpenSans-italic.fntdata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ato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33" Type="http://schemas.openxmlformats.org/officeDocument/2006/relationships/font" Target="fonts/Lato-italic.fntdata"/><Relationship Id="rId10" Type="http://schemas.openxmlformats.org/officeDocument/2006/relationships/slide" Target="slides/slide6.xml"/><Relationship Id="rId32" Type="http://schemas.openxmlformats.org/officeDocument/2006/relationships/font" Target="fonts/Lato-bold.fntdata"/><Relationship Id="rId13" Type="http://schemas.openxmlformats.org/officeDocument/2006/relationships/slide" Target="slides/slide9.xml"/><Relationship Id="rId35" Type="http://schemas.openxmlformats.org/officeDocument/2006/relationships/font" Target="fonts/Overpass-regular.fntdata"/><Relationship Id="rId12" Type="http://schemas.openxmlformats.org/officeDocument/2006/relationships/slide" Target="slides/slide8.xml"/><Relationship Id="rId34" Type="http://schemas.openxmlformats.org/officeDocument/2006/relationships/font" Target="fonts/Lato-boldItalic.fntdata"/><Relationship Id="rId15" Type="http://schemas.openxmlformats.org/officeDocument/2006/relationships/slide" Target="slides/slide11.xml"/><Relationship Id="rId37" Type="http://schemas.openxmlformats.org/officeDocument/2006/relationships/font" Target="fonts/Overpass-italic.fntdata"/><Relationship Id="rId14" Type="http://schemas.openxmlformats.org/officeDocument/2006/relationships/slide" Target="slides/slide10.xml"/><Relationship Id="rId36" Type="http://schemas.openxmlformats.org/officeDocument/2006/relationships/font" Target="fonts/Overpass-bold.fntdata"/><Relationship Id="rId17" Type="http://schemas.openxmlformats.org/officeDocument/2006/relationships/slide" Target="slides/slide13.xml"/><Relationship Id="rId39" Type="http://schemas.openxmlformats.org/officeDocument/2006/relationships/font" Target="fonts/Syne-regular.fntdata"/><Relationship Id="rId16" Type="http://schemas.openxmlformats.org/officeDocument/2006/relationships/slide" Target="slides/slide12.xml"/><Relationship Id="rId38" Type="http://schemas.openxmlformats.org/officeDocument/2006/relationships/font" Target="fonts/Overpass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8ed868d0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68ed868d0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68ed868d0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aeaaaa1f1_0_226:notes"/>
          <p:cNvSpPr/>
          <p:nvPr>
            <p:ph idx="2" type="sldImg"/>
          </p:nvPr>
        </p:nvSpPr>
        <p:spPr>
          <a:xfrm>
            <a:off x="685800" y="1143000"/>
            <a:ext cx="5486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6aeaaaa1f1_0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125" spcFirstLastPara="1" rIns="9312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6aeaaaa1f1_0_226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125" spcFirstLastPara="1" rIns="93125" wrap="square" tIns="46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aeaaaa1f1_0_58:notes"/>
          <p:cNvSpPr/>
          <p:nvPr>
            <p:ph idx="2" type="sldImg"/>
          </p:nvPr>
        </p:nvSpPr>
        <p:spPr>
          <a:xfrm>
            <a:off x="685800" y="1143000"/>
            <a:ext cx="5486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6aeaaaa1f1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125" spcFirstLastPara="1" rIns="9312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6aeaaaa1f1_0_58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125" spcFirstLastPara="1" rIns="93125" wrap="square" tIns="46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aeaaaa1f1_0_81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6aeaaaa1f1_0_81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aeaaaa1f1_0_5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aeaaaa1f1_0_5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6aeaaaa1f1_0_5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aeaaaa1f1_0_252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aeaaaa1f1_0_252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aeaaaa1f1_0_93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6aeaaaa1f1_0_93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aeaaaa1f1_0_10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6aeaaaa1f1_0_10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6aeaaaa1f1_0_106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6aeaaaa1f1_0_106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aeaaaa1f1_0_113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aeaaaa1f1_0_113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aeaaaa1f1_0_5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6aeaaaa1f1_0_5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6aeaaaa1f1_0_5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6aeaaaa1f1_0_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6aeaaaa1f1_0_3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6aeaaaa1f1_0_3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aeaaaa1f1_0_2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6aeaaaa1f1_0_2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6aeaaaa1f1_0_2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6aeaaaa1f1_0_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6aeaaaa1f1_0_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6aeaaaa1f1_0_2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6aeaaaa1f1_0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6aeaaaa1f1_0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6aeaaaa1f1_0_2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417fe7fce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417fe7fc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417fe7fce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417fe7fce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417fe7fce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417fe7fce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24c8163f287bebf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24c8163f287bebf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24c8163f287bebf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032360" y="4420360"/>
            <a:ext cx="10778400" cy="1855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9501194" y="40530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655778" y="40530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2" y="405306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154279" y="40530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0"/>
            <a:ext cx="14630400" cy="6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ctrTitle"/>
          </p:nvPr>
        </p:nvSpPr>
        <p:spPr>
          <a:xfrm>
            <a:off x="1097280" y="2533348"/>
            <a:ext cx="12435900" cy="18558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1097280" y="4544085"/>
            <a:ext cx="12435900" cy="1255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4876326" y="6388560"/>
            <a:ext cx="48762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9754033" y="6388560"/>
            <a:ext cx="48762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" y="6388560"/>
            <a:ext cx="48762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-200" y="7728450"/>
            <a:ext cx="146304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" type="body"/>
          </p:nvPr>
        </p:nvSpPr>
        <p:spPr>
          <a:xfrm>
            <a:off x="2736680" y="3458880"/>
            <a:ext cx="9157800" cy="1311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69900" lvl="0" marL="457200" rtl="0" algn="ctr">
              <a:spcBef>
                <a:spcPts val="1000"/>
              </a:spcBef>
              <a:spcAft>
                <a:spcPts val="0"/>
              </a:spcAft>
              <a:buSzPts val="3800"/>
              <a:buChar char="▷"/>
              <a:defRPr i="1"/>
            </a:lvl1pPr>
            <a:lvl2pPr indent="-469900" lvl="1" marL="9144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2pPr>
            <a:lvl3pPr indent="-469900" lvl="2" marL="1371600" rtl="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3pPr>
            <a:lvl4pPr indent="-469900" lvl="3" marL="1828800" rtl="0" algn="ctr">
              <a:spcBef>
                <a:spcPts val="0"/>
              </a:spcBef>
              <a:spcAft>
                <a:spcPts val="0"/>
              </a:spcAft>
              <a:buSzPts val="3800"/>
              <a:buChar char="●"/>
              <a:defRPr i="1"/>
            </a:lvl4pPr>
            <a:lvl5pPr indent="-469900" lvl="4" marL="22860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5pPr>
            <a:lvl6pPr indent="-469900" lvl="5" marL="2743200" rtl="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6pPr>
            <a:lvl7pPr indent="-469900" lvl="6" marL="3200400" rtl="0" algn="ctr">
              <a:spcBef>
                <a:spcPts val="0"/>
              </a:spcBef>
              <a:spcAft>
                <a:spcPts val="0"/>
              </a:spcAft>
              <a:buSzPts val="3800"/>
              <a:buChar char="●"/>
              <a:defRPr i="1"/>
            </a:lvl7pPr>
            <a:lvl8pPr indent="-469900" lvl="7" marL="36576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8pPr>
            <a:lvl9pPr indent="-469900" lvl="8" marL="411480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5749440" y="1890270"/>
            <a:ext cx="31314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00">
                <a:solidFill>
                  <a:schemeClr val="accent6"/>
                </a:solidFill>
              </a:rPr>
              <a:t>“</a:t>
            </a:r>
            <a:endParaRPr b="1" sz="15400">
              <a:solidFill>
                <a:schemeClr val="accent6"/>
              </a:solidFill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9157253" y="2559480"/>
            <a:ext cx="27366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1894683" y="2559480"/>
            <a:ext cx="27366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" y="2559480"/>
            <a:ext cx="27366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2736679" y="2559480"/>
            <a:ext cx="273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-200" y="7728450"/>
            <a:ext cx="146304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1429920" y="2197740"/>
            <a:ext cx="10340100" cy="5683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12750" lvl="0" marL="457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900"/>
              <a:buChar char="▷"/>
              <a:defRPr>
                <a:solidFill>
                  <a:schemeClr val="dk1"/>
                </a:solidFill>
              </a:defRPr>
            </a:lvl1pPr>
            <a:lvl2pPr indent="-469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2pPr>
            <a:lvl3pPr indent="-469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3pPr>
            <a:lvl4pPr indent="-469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  <a:defRPr>
                <a:solidFill>
                  <a:schemeClr val="dk1"/>
                </a:solidFill>
              </a:defRPr>
            </a:lvl4pPr>
            <a:lvl5pPr indent="-469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5pPr>
            <a:lvl6pPr indent="-469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6pPr>
            <a:lvl7pPr indent="-469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  <a:defRPr>
                <a:solidFill>
                  <a:schemeClr val="dk1"/>
                </a:solidFill>
              </a:defRPr>
            </a:lvl7pPr>
            <a:lvl8pPr indent="-469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8pPr>
            <a:lvl9pPr indent="-469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5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1429800" y="1920240"/>
            <a:ext cx="50190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31800" lvl="0" marL="457200">
              <a:spcBef>
                <a:spcPts val="1000"/>
              </a:spcBef>
              <a:spcAft>
                <a:spcPts val="0"/>
              </a:spcAft>
              <a:buSzPts val="3200"/>
              <a:buChar char="▷"/>
              <a:defRPr sz="3200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6751129" y="1920240"/>
            <a:ext cx="50190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31800" lvl="0" marL="457200">
              <a:spcBef>
                <a:spcPts val="1000"/>
              </a:spcBef>
              <a:spcAft>
                <a:spcPts val="0"/>
              </a:spcAft>
              <a:buSzPts val="3200"/>
              <a:buChar char="▷"/>
              <a:defRPr sz="3200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1429920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59" name="Google Shape;59;p7"/>
          <p:cNvSpPr txBox="1"/>
          <p:nvPr>
            <p:ph idx="2" type="body"/>
          </p:nvPr>
        </p:nvSpPr>
        <p:spPr>
          <a:xfrm>
            <a:off x="5418246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60" name="Google Shape;60;p7"/>
          <p:cNvSpPr txBox="1"/>
          <p:nvPr>
            <p:ph idx="3" type="body"/>
          </p:nvPr>
        </p:nvSpPr>
        <p:spPr>
          <a:xfrm>
            <a:off x="9406571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 txBox="1"/>
          <p:nvPr>
            <p:ph idx="1" type="body"/>
          </p:nvPr>
        </p:nvSpPr>
        <p:spPr>
          <a:xfrm>
            <a:off x="1429920" y="7439940"/>
            <a:ext cx="10340100" cy="5610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indent="-2286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0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">
  <p:cSld name="BLANK_1">
    <p:bg>
      <p:bgPr>
        <a:solidFill>
          <a:schemeClr val="accen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" name="Google Shape;88;p11" title="photo_2025-09-18_15-49-54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14475" y="1907150"/>
            <a:ext cx="5033100" cy="5033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 1">
  <p:cSld name="BLANK_1_1">
    <p:bg>
      <p:bgPr>
        <a:solidFill>
          <a:schemeClr val="accen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2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 1 1">
  <p:cSld name="BLANK_1_1_1">
    <p:bg>
      <p:bgPr>
        <a:solidFill>
          <a:schemeClr val="accen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411450" y="6813450"/>
            <a:ext cx="987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CE5CD"/>
                </a:solidFill>
                <a:latin typeface="Raleway"/>
                <a:ea typeface="Raleway"/>
                <a:cs typeface="Raleway"/>
                <a:sym typeface="Raleway"/>
              </a:rPr>
              <a:t>ЗАВДАННЯ </a:t>
            </a:r>
            <a:endParaRPr b="1" sz="4800">
              <a:solidFill>
                <a:srgbClr val="FCE5C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2" name="Google Shape;102;p13" title="eafd1209-e9c2-408c-b471-2dc2c919ed8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925" y="2404700"/>
            <a:ext cx="4408750" cy="44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7" name="Google Shape;10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0" name="Google Shape;11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3" name="Google Shape;11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6" name="Google Shape;11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" name="Google Shape;11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2" name="Google Shape;12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/>
          <p:nvPr/>
        </p:nvSpPr>
        <p:spPr>
          <a:xfrm>
            <a:off x="8346914" y="70916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9501498" y="70916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-2278962" y="637950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-1" y="70916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_3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/>
          <p:nvPr/>
        </p:nvSpPr>
        <p:spPr>
          <a:xfrm>
            <a:off x="8346914" y="70916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9501498" y="70916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/>
          <p:nvPr/>
        </p:nvSpPr>
        <p:spPr>
          <a:xfrm>
            <a:off x="-2278962" y="637950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/>
          <p:nvPr/>
        </p:nvSpPr>
        <p:spPr>
          <a:xfrm>
            <a:off x="-1" y="70916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3">
  <p:cSld name="CAPTION_ONLY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5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5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4">
  <p:cSld name="CAPTION_ONLY_4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6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6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6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6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5">
  <p:cSld name="CAPTION_ONLY_5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7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6">
  <p:cSld name="CAPTION_ONLY_6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8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8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7">
  <p:cSld name="CAPTION_ONLY_7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9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9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9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9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429920" y="2197740"/>
            <a:ext cx="10340100" cy="56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69900" lvl="0" marL="457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3800"/>
              <a:buFont typeface="Lato"/>
              <a:buChar char="▷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69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469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469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●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469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469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469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●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469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469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hyperlink" Target="https://uk.wikipedia.org/wiki/%D0%9F%D0%BE%D0%BB%D1%96%D0%B0%D0%BB%D1%84%D0%B0%D0%B2%D1%96%D1%82%D0%BD%D0%B8%D0%B9_%D1%88%D0%B8%D1%84%D1%80" TargetMode="External"/><Relationship Id="rId5" Type="http://schemas.openxmlformats.org/officeDocument/2006/relationships/hyperlink" Target="https://uk.wikipedia.org/wiki/%D0%9A%D0%BB%D1%8E%D1%87_(%D0%BA%D1%80%D0%B8%D0%BF%D1%82%D0%BE%D0%B3%D1%80%D0%B0%D1%84%D1%96%D1%8F)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olab.research.google.com/drive/14GERD7FEeV5k4SE0k7jKMMrLmz97GNwo?usp=sharing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hyperlink" Target="https://colab.research.google.com/drive/14GERD7FEeV5k4SE0k7jKMMrLmz97GNwo?usp=sharin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olab.research.google.com/drive/14GERD7FEeV5k4SE0k7jKMMrLmz97GNwo?usp=sharing" TargetMode="External"/><Relationship Id="rId4" Type="http://schemas.openxmlformats.org/officeDocument/2006/relationships/hyperlink" Target="https://quipqiup.com/" TargetMode="External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www.youtube.com/watch?v=RGO9LOlrPzs" TargetMode="External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/>
        </p:nvSpPr>
        <p:spPr>
          <a:xfrm>
            <a:off x="583575" y="1359125"/>
            <a:ext cx="139269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Віженер</a:t>
            </a:r>
            <a:endParaRPr b="1" sz="85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5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/>
          <p:nvPr/>
        </p:nvSpPr>
        <p:spPr>
          <a:xfrm>
            <a:off x="793807" y="633050"/>
            <a:ext cx="10734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4500"/>
              <a:buFont typeface="Syne"/>
              <a:buNone/>
            </a:pPr>
            <a:r>
              <a:rPr b="1" lang="en-US" sz="45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Полі алфавітні</a:t>
            </a:r>
            <a:r>
              <a:rPr b="1" i="0" lang="en-US" sz="45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шифри</a:t>
            </a:r>
            <a:endParaRPr i="0" sz="4500" u="none" cap="none" strike="noStrike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8" name="Google Shape;188;p31"/>
          <p:cNvSpPr/>
          <p:nvPr/>
        </p:nvSpPr>
        <p:spPr>
          <a:xfrm>
            <a:off x="1857256" y="2243495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Ключове слово</a:t>
            </a:r>
            <a:endParaRPr b="0" i="0" sz="2200" u="none" cap="none" strike="noStrike"/>
          </a:p>
        </p:txBody>
      </p:sp>
      <p:sp>
        <p:nvSpPr>
          <p:cNvPr id="189" name="Google Shape;189;p31"/>
          <p:cNvSpPr/>
          <p:nvPr/>
        </p:nvSpPr>
        <p:spPr>
          <a:xfrm>
            <a:off x="793790" y="2733913"/>
            <a:ext cx="38991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Overpass"/>
              <a:buNone/>
            </a:pPr>
            <a:r>
              <a:rPr b="0" i="0" lang="en-US" sz="1800" u="none" cap="none" strike="noStrik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Виберіть ключ для шифрування (наприклад, "КІТ").</a:t>
            </a:r>
            <a:endParaRPr b="0" i="0" sz="1800" u="none" cap="none" strike="noStrike"/>
          </a:p>
        </p:txBody>
      </p:sp>
      <p:pic>
        <p:nvPicPr>
          <p:cNvPr descr="preencoded.png" id="190" name="Google Shape;19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653" y="1795463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1"/>
          <p:cNvSpPr/>
          <p:nvPr/>
        </p:nvSpPr>
        <p:spPr>
          <a:xfrm>
            <a:off x="6226731" y="2558534"/>
            <a:ext cx="3393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37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700"/>
              <a:buFont typeface="Syne"/>
              <a:buNone/>
            </a:pPr>
            <a:r>
              <a:rPr b="1" i="0" lang="en-US" sz="27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1</a:t>
            </a:r>
            <a:endParaRPr b="0" i="0" sz="2700" u="none" cap="none" strike="noStrike"/>
          </a:p>
        </p:txBody>
      </p:sp>
      <p:sp>
        <p:nvSpPr>
          <p:cNvPr id="192" name="Google Shape;192;p31"/>
          <p:cNvSpPr/>
          <p:nvPr/>
        </p:nvSpPr>
        <p:spPr>
          <a:xfrm>
            <a:off x="9937790" y="2424946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Повторення ключа</a:t>
            </a:r>
            <a:endParaRPr b="0" i="0" sz="2200" u="none" cap="none" strike="noStrike"/>
          </a:p>
        </p:txBody>
      </p:sp>
      <p:sp>
        <p:nvSpPr>
          <p:cNvPr id="193" name="Google Shape;193;p31"/>
          <p:cNvSpPr/>
          <p:nvPr/>
        </p:nvSpPr>
        <p:spPr>
          <a:xfrm>
            <a:off x="9937790" y="2915364"/>
            <a:ext cx="3899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Overpass"/>
              <a:buNone/>
            </a:pPr>
            <a:r>
              <a:rPr b="0" i="0" lang="en-US" sz="1800" u="none" cap="none" strike="noStrik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Повторіть ключ до довжини тексту.</a:t>
            </a:r>
            <a:endParaRPr b="0" i="0" sz="1800" u="none" cap="none" strike="noStrike"/>
          </a:p>
        </p:txBody>
      </p:sp>
      <p:pic>
        <p:nvPicPr>
          <p:cNvPr descr="preencoded.png" id="194" name="Google Shape;19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2653" y="1795463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1"/>
          <p:cNvSpPr/>
          <p:nvPr/>
        </p:nvSpPr>
        <p:spPr>
          <a:xfrm>
            <a:off x="8452604" y="2947035"/>
            <a:ext cx="3393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37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700"/>
              <a:buFont typeface="Syne"/>
              <a:buNone/>
            </a:pPr>
            <a:r>
              <a:rPr b="1" i="0" lang="en-US" sz="27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2</a:t>
            </a:r>
            <a:endParaRPr b="0" i="0" sz="2700" u="none" cap="none" strike="noStrike"/>
          </a:p>
        </p:txBody>
      </p:sp>
      <p:sp>
        <p:nvSpPr>
          <p:cNvPr id="196" name="Google Shape;196;p31"/>
          <p:cNvSpPr/>
          <p:nvPr/>
        </p:nvSpPr>
        <p:spPr>
          <a:xfrm>
            <a:off x="9937790" y="4696063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Зсув за ключем</a:t>
            </a:r>
            <a:endParaRPr b="0" i="0" sz="2200" u="none" cap="none" strike="noStrike"/>
          </a:p>
        </p:txBody>
      </p:sp>
      <p:sp>
        <p:nvSpPr>
          <p:cNvPr id="197" name="Google Shape;197;p31"/>
          <p:cNvSpPr/>
          <p:nvPr/>
        </p:nvSpPr>
        <p:spPr>
          <a:xfrm>
            <a:off x="9937790" y="5186482"/>
            <a:ext cx="38991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Overpass"/>
              <a:buNone/>
            </a:pPr>
            <a:r>
              <a:rPr b="0" i="0" lang="en-US" sz="1800" u="none" cap="none" strike="noStrik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Кожна літера ключа визначає зсув для відповідної літери тексту.</a:t>
            </a:r>
            <a:endParaRPr b="0" i="0" sz="1800" u="none" cap="none" strike="noStrike"/>
          </a:p>
        </p:txBody>
      </p:sp>
      <p:pic>
        <p:nvPicPr>
          <p:cNvPr descr="preencoded.png" id="198" name="Google Shape;19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2653" y="1795463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1"/>
          <p:cNvSpPr/>
          <p:nvPr/>
        </p:nvSpPr>
        <p:spPr>
          <a:xfrm>
            <a:off x="8064103" y="5172908"/>
            <a:ext cx="3393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37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700"/>
              <a:buFont typeface="Syne"/>
              <a:buNone/>
            </a:pPr>
            <a:r>
              <a:rPr b="1" i="0" lang="en-US" sz="27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3</a:t>
            </a:r>
            <a:endParaRPr b="0" i="0" sz="2700" u="none" cap="none" strike="noStrike"/>
          </a:p>
        </p:txBody>
      </p:sp>
      <p:sp>
        <p:nvSpPr>
          <p:cNvPr id="200" name="Google Shape;200;p31"/>
          <p:cNvSpPr/>
          <p:nvPr/>
        </p:nvSpPr>
        <p:spPr>
          <a:xfrm>
            <a:off x="1857256" y="4696063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Шифрування</a:t>
            </a:r>
            <a:endParaRPr b="0" i="0" sz="2200" u="none" cap="none" strike="noStrike"/>
          </a:p>
        </p:txBody>
      </p:sp>
      <p:sp>
        <p:nvSpPr>
          <p:cNvPr id="201" name="Google Shape;201;p31"/>
          <p:cNvSpPr/>
          <p:nvPr/>
        </p:nvSpPr>
        <p:spPr>
          <a:xfrm>
            <a:off x="793790" y="5186482"/>
            <a:ext cx="38991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Overpass"/>
              <a:buNone/>
            </a:pPr>
            <a:r>
              <a:rPr b="0" i="0" lang="en-US" sz="1800" u="none" cap="none" strike="noStrik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Застосуйте зсув до кожної літери тексту.</a:t>
            </a:r>
            <a:endParaRPr b="0" i="0" sz="1800" u="none" cap="none" strike="noStrike"/>
          </a:p>
        </p:txBody>
      </p:sp>
      <p:pic>
        <p:nvPicPr>
          <p:cNvPr descr="preencoded.png" id="202" name="Google Shape;20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2653" y="1795463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1"/>
          <p:cNvSpPr/>
          <p:nvPr/>
        </p:nvSpPr>
        <p:spPr>
          <a:xfrm>
            <a:off x="5838230" y="4784408"/>
            <a:ext cx="3393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37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700"/>
              <a:buFont typeface="Syne"/>
              <a:buNone/>
            </a:pPr>
            <a:r>
              <a:rPr b="1" i="0" lang="en-US" sz="27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4</a:t>
            </a:r>
            <a:endParaRPr b="0" i="0" sz="2700" u="none" cap="none" strike="noStrike"/>
          </a:p>
        </p:txBody>
      </p:sp>
      <p:sp>
        <p:nvSpPr>
          <p:cNvPr id="204" name="Google Shape;204;p31"/>
          <p:cNvSpPr/>
          <p:nvPr/>
        </p:nvSpPr>
        <p:spPr>
          <a:xfrm>
            <a:off x="793790" y="6615589"/>
            <a:ext cx="13043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Overpass"/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05" name="Google Shape;205;p31"/>
          <p:cNvSpPr/>
          <p:nvPr/>
        </p:nvSpPr>
        <p:spPr>
          <a:xfrm>
            <a:off x="793790" y="7233642"/>
            <a:ext cx="13043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Overpass"/>
              <a:buNone/>
            </a:pPr>
            <a:r>
              <a:rPr b="0" i="0" lang="en-US" sz="1800" u="none" cap="none" strike="noStrik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Складніше зламати, бо один символ шифрується по-різному.</a:t>
            </a:r>
            <a:endParaRPr b="0" i="0" sz="18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/>
          <p:nvPr/>
        </p:nvSpPr>
        <p:spPr>
          <a:xfrm>
            <a:off x="793807" y="633050"/>
            <a:ext cx="10734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4500"/>
              <a:buFont typeface="Syne"/>
              <a:buNone/>
            </a:pPr>
            <a:r>
              <a:rPr b="1" lang="en-US" sz="45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Поліалфавітні</a:t>
            </a:r>
            <a:r>
              <a:rPr b="1" i="0" lang="en-US" sz="45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шифри</a:t>
            </a:r>
            <a:endParaRPr i="0" sz="4500" u="none" cap="none" strike="noStrike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682950" y="2458625"/>
            <a:ext cx="11152200" cy="42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800"/>
              <a:t>Що таке поліалфавітний шифр</a:t>
            </a:r>
            <a:endParaRPr b="1" sz="28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800"/>
              <a:t>Суть:</a:t>
            </a:r>
            <a:r>
              <a:rPr lang="en-US" sz="2800"/>
              <a:t> Замість одного алфавіту (як у Цезаря), використовується кілька. Кожна літера відкритого тексту шифрується за іншим зсувом, залежно від букви ключа.</a:t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en-US" sz="2800"/>
              <a:t>Ключ — це слово, яке повторюється по всій довжині повідомлення.</a:t>
            </a:r>
            <a:endParaRPr b="1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80" y="1803540"/>
            <a:ext cx="6086601" cy="435346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3"/>
          <p:cNvSpPr txBox="1"/>
          <p:nvPr/>
        </p:nvSpPr>
        <p:spPr>
          <a:xfrm>
            <a:off x="1045630" y="414815"/>
            <a:ext cx="48000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6D01"/>
                </a:solidFill>
                <a:latin typeface="Raleway"/>
                <a:ea typeface="Raleway"/>
                <a:cs typeface="Raleway"/>
                <a:sym typeface="Raleway"/>
              </a:rPr>
              <a:t>Шифр Віженера</a:t>
            </a:r>
            <a:endParaRPr b="1" sz="4400">
              <a:solidFill>
                <a:srgbClr val="FF6D0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6727950" y="751250"/>
            <a:ext cx="7702500" cy="5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b="1" lang="en-US" sz="2900">
                <a:latin typeface="Raleway"/>
                <a:ea typeface="Raleway"/>
                <a:cs typeface="Raleway"/>
                <a:sym typeface="Raleway"/>
              </a:rPr>
              <a:t>Історія:</a:t>
            </a:r>
            <a:r>
              <a:rPr lang="en-US" sz="2900">
                <a:latin typeface="Raleway"/>
                <a:ea typeface="Raleway"/>
                <a:cs typeface="Raleway"/>
                <a:sym typeface="Raleway"/>
              </a:rPr>
              <a:t> Описаний італійцем Джованні Белазо в XVI столітті, але отримав назву на честь Блеза де Віженера.</a:t>
            </a:r>
            <a:endParaRPr sz="2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202122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Шифр Віженера </a:t>
            </a:r>
            <a:r>
              <a:rPr lang="en-US" sz="2900">
                <a:solidFill>
                  <a:srgbClr val="202122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 — </a:t>
            </a:r>
            <a:r>
              <a:rPr lang="en-US" sz="29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поліалфавітний шифр</a:t>
            </a:r>
            <a:r>
              <a:rPr lang="en-US" sz="2900">
                <a:solidFill>
                  <a:srgbClr val="202122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, який як </a:t>
            </a:r>
            <a:r>
              <a:rPr lang="en-US" sz="29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ключ</a:t>
            </a:r>
            <a:r>
              <a:rPr lang="en-US" sz="2900">
                <a:solidFill>
                  <a:srgbClr val="202122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 використовує слово.</a:t>
            </a:r>
            <a:endParaRPr sz="2900">
              <a:solidFill>
                <a:srgbClr val="202122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3400"/>
              </a:spcBef>
              <a:spcAft>
                <a:spcPts val="1200"/>
              </a:spcAft>
              <a:buNone/>
            </a:pPr>
            <a:r>
              <a:rPr lang="en-US" sz="2900">
                <a:solidFill>
                  <a:srgbClr val="202122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Якщо пронумерувати літери алфавіту від 0 до 32 (а → 0, б → 1, в → 2, …), то шифрування Віженера можна подати формулою:</a:t>
            </a:r>
            <a:endParaRPr b="1" sz="29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0" name="Google Shape;220;p33"/>
          <p:cNvSpPr txBox="1"/>
          <p:nvPr/>
        </p:nvSpPr>
        <p:spPr>
          <a:xfrm>
            <a:off x="1280525" y="6573125"/>
            <a:ext cx="4565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Raleway"/>
                <a:ea typeface="Raleway"/>
                <a:cs typeface="Raleway"/>
                <a:sym typeface="Raleway"/>
              </a:rPr>
              <a:t>Блез де Віженер </a:t>
            </a:r>
            <a:endParaRPr sz="3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/>
        </p:nvSpPr>
        <p:spPr>
          <a:xfrm>
            <a:off x="262200" y="2390325"/>
            <a:ext cx="79191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101418"/>
                </a:solidFill>
                <a:latin typeface="Raleway"/>
                <a:ea typeface="Raleway"/>
                <a:cs typeface="Raleway"/>
                <a:sym typeface="Raleway"/>
              </a:rPr>
              <a:t>Джованні Батnіста </a:t>
            </a:r>
            <a:r>
              <a:rPr lang="en-US" sz="4200">
                <a:solidFill>
                  <a:srgbClr val="101418"/>
                </a:solidFill>
                <a:latin typeface="Raleway"/>
                <a:ea typeface="Raleway"/>
                <a:cs typeface="Raleway"/>
                <a:sym typeface="Raleway"/>
              </a:rPr>
              <a:t>Беллазо</a:t>
            </a:r>
            <a:endParaRPr sz="4200">
              <a:solidFill>
                <a:srgbClr val="10141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6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4595D"/>
              </a:solidFill>
              <a:highlight>
                <a:srgbClr val="FFFFFF"/>
              </a:highlight>
            </a:endParaRPr>
          </a:p>
          <a:p>
            <a:pPr indent="0" lvl="0" marL="0" marR="381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54595D"/>
              </a:solidFill>
            </a:endParaRPr>
          </a:p>
        </p:txBody>
      </p:sp>
      <p:pic>
        <p:nvPicPr>
          <p:cNvPr id="227" name="Google Shape;22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8200" y="-5"/>
            <a:ext cx="2923575" cy="425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52025"/>
            <a:ext cx="14351076" cy="332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4"/>
          <p:cNvSpPr txBox="1"/>
          <p:nvPr/>
        </p:nvSpPr>
        <p:spPr>
          <a:xfrm>
            <a:off x="0" y="0"/>
            <a:ext cx="9513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6D01"/>
                </a:solidFill>
                <a:latin typeface="Raleway"/>
                <a:ea typeface="Raleway"/>
                <a:cs typeface="Raleway"/>
                <a:sym typeface="Raleway"/>
              </a:rPr>
              <a:t>Хто створив ш</a:t>
            </a:r>
            <a:r>
              <a:rPr b="1" lang="en-US" sz="4400">
                <a:solidFill>
                  <a:srgbClr val="FF6D01"/>
                </a:solidFill>
                <a:latin typeface="Raleway"/>
                <a:ea typeface="Raleway"/>
                <a:cs typeface="Raleway"/>
                <a:sym typeface="Raleway"/>
              </a:rPr>
              <a:t>ифр Віженера?</a:t>
            </a:r>
            <a:endParaRPr b="1" sz="4400">
              <a:solidFill>
                <a:srgbClr val="FF6D0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4827" y="1148146"/>
            <a:ext cx="6472350" cy="62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5"/>
          <p:cNvSpPr txBox="1"/>
          <p:nvPr/>
        </p:nvSpPr>
        <p:spPr>
          <a:xfrm>
            <a:off x="8521000" y="329440"/>
            <a:ext cx="48000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400">
                <a:latin typeface="Raleway"/>
                <a:ea typeface="Raleway"/>
                <a:cs typeface="Raleway"/>
                <a:sym typeface="Raleway"/>
              </a:rPr>
              <a:t>Таблиця Tabula Recta</a:t>
            </a:r>
            <a:endParaRPr sz="37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6" name="Google Shape;236;p35"/>
          <p:cNvSpPr txBox="1"/>
          <p:nvPr/>
        </p:nvSpPr>
        <p:spPr>
          <a:xfrm>
            <a:off x="1130980" y="329440"/>
            <a:ext cx="48000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6D01"/>
                </a:solidFill>
                <a:latin typeface="Raleway"/>
                <a:ea typeface="Raleway"/>
                <a:cs typeface="Raleway"/>
                <a:sym typeface="Raleway"/>
              </a:rPr>
              <a:t>Шифр Віженера</a:t>
            </a:r>
            <a:endParaRPr sz="3800">
              <a:solidFill>
                <a:srgbClr val="FF6D0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307325" y="4285525"/>
            <a:ext cx="7293300" cy="25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/>
              <a:t>К</a:t>
            </a:r>
            <a:r>
              <a:rPr b="1" lang="en-US" sz="2400"/>
              <a:t>роки шифрування: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М (ключ К) → літера на перетині М і К → </a:t>
            </a:r>
            <a:r>
              <a:rPr b="1" lang="en-US" sz="2400"/>
              <a:t>Х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И (ключ О) → літера на перетині И і О → </a:t>
            </a:r>
            <a:r>
              <a:rPr b="1" lang="en-US" sz="2400"/>
              <a:t>Ш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Р (ключ Д) → літера на перетині Р і Д → </a:t>
            </a:r>
            <a:r>
              <a:rPr b="1" lang="en-US" sz="2400"/>
              <a:t>У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/>
              <a:t>Зашифрований текст: ХШУ</a:t>
            </a:r>
            <a:endParaRPr b="1" sz="2400"/>
          </a:p>
        </p:txBody>
      </p:sp>
      <p:sp>
        <p:nvSpPr>
          <p:cNvPr id="238" name="Google Shape;238;p35"/>
          <p:cNvSpPr txBox="1"/>
          <p:nvPr/>
        </p:nvSpPr>
        <p:spPr>
          <a:xfrm>
            <a:off x="153675" y="1355738"/>
            <a:ext cx="7293300" cy="27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b="1" lang="en-US" sz="3400">
                <a:latin typeface="Raleway"/>
                <a:ea typeface="Raleway"/>
                <a:cs typeface="Raleway"/>
                <a:sym typeface="Raleway"/>
              </a:rPr>
              <a:t>Приклад:</a:t>
            </a:r>
            <a:endParaRPr b="1" sz="3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b="1" lang="en-US" sz="3400">
                <a:latin typeface="Raleway"/>
                <a:ea typeface="Raleway"/>
                <a:cs typeface="Raleway"/>
                <a:sym typeface="Raleway"/>
              </a:rPr>
              <a:t>Відкритий текст: М И Р</a:t>
            </a:r>
            <a:endParaRPr b="1" sz="3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3400"/>
              </a:spcBef>
              <a:spcAft>
                <a:spcPts val="3400"/>
              </a:spcAft>
              <a:buNone/>
            </a:pPr>
            <a:r>
              <a:rPr b="1" lang="en-US" sz="3400">
                <a:latin typeface="Raleway"/>
                <a:ea typeface="Raleway"/>
                <a:cs typeface="Raleway"/>
                <a:sym typeface="Raleway"/>
              </a:rPr>
              <a:t>Ключ:            К О Д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/>
        </p:nvSpPr>
        <p:spPr>
          <a:xfrm>
            <a:off x="98920" y="591840"/>
            <a:ext cx="13378200" cy="7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Для шифрування слова "</a:t>
            </a:r>
            <a:r>
              <a:rPr lang="en-US" sz="2700">
                <a:highlight>
                  <a:schemeClr val="accent2"/>
                </a:highlight>
                <a:latin typeface="Raleway"/>
                <a:ea typeface="Raleway"/>
                <a:cs typeface="Raleway"/>
                <a:sym typeface="Raleway"/>
              </a:rPr>
              <a:t>help</a:t>
            </a: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" ключем "</a:t>
            </a:r>
            <a:r>
              <a:rPr lang="en-US" sz="2700">
                <a:highlight>
                  <a:schemeClr val="accent4"/>
                </a:highlight>
                <a:latin typeface="Raleway"/>
                <a:ea typeface="Raleway"/>
                <a:cs typeface="Raleway"/>
                <a:sym typeface="Raleway"/>
              </a:rPr>
              <a:t>one</a:t>
            </a: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" за допомогою шифру Віженера: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-539750" lvl="0" marL="736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700"/>
              <a:buFont typeface="Raleway"/>
              <a:buAutoNum type="arabicPeriod"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Перетворіть букви в числові значення (A=0, B=1, ..., Z=25):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-539750" lvl="1" marL="146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Char char="●"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help: H = 7, E = 4, L = 11, P = 15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-539750" lvl="1" marL="146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Char char="●"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one: O = 14, N = 13, E = 4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-539750" lvl="0" marL="736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AutoNum type="arabicPeriod"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Повторіть ключ, щоб він відповідав довжині слова, яке шифруєте: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-539750" lvl="1" marL="146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Char char="●"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oneone: O = 14, N = 13, E = 4, O = 14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-539750" lvl="0" marL="736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AutoNum type="arabicPeriod"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Виконайте шифрування кожної літери, додаючи числові значення літер тексту та ключа (за модулем 26):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-539750" lvl="1" marL="146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Char char="●"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H + O = (7 + 14) mod 26 = 21 -&gt; V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-539750" lvl="1" marL="146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Char char="●"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E + N = (4 + 13) mod 26 = 17 -&gt; R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-539750" lvl="1" marL="146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Char char="●"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L + E = (11 + 4) mod 26 = 15 -&gt; P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-539750" lvl="1" marL="146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Char char="●"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P + O = (15 + 14) mod 26 = 3 -&gt; D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Зашифроване слово: "VRPD"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4" name="Google Shape;244;p36"/>
          <p:cNvSpPr txBox="1"/>
          <p:nvPr/>
        </p:nvSpPr>
        <p:spPr>
          <a:xfrm>
            <a:off x="8313760" y="4441640"/>
            <a:ext cx="3996000" cy="21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6D01"/>
                </a:solidFill>
                <a:latin typeface="Raleway"/>
                <a:ea typeface="Raleway"/>
                <a:cs typeface="Raleway"/>
                <a:sym typeface="Raleway"/>
              </a:rPr>
              <a:t>А як це описати математично?</a:t>
            </a:r>
            <a:endParaRPr sz="3800">
              <a:solidFill>
                <a:srgbClr val="FF6D0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45" name="Google Shape;245;p36" title="c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5840" y="4797721"/>
            <a:ext cx="2482324" cy="248232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6"/>
          <p:cNvSpPr/>
          <p:nvPr/>
        </p:nvSpPr>
        <p:spPr>
          <a:xfrm>
            <a:off x="6968560" y="4322920"/>
            <a:ext cx="7319400" cy="22746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526" y="327951"/>
            <a:ext cx="7412175" cy="180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7"/>
          <p:cNvSpPr txBox="1"/>
          <p:nvPr/>
        </p:nvSpPr>
        <p:spPr>
          <a:xfrm>
            <a:off x="415440" y="3022200"/>
            <a:ext cx="64737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736600" rtl="0" algn="l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H + O = (7 + 14) mod 26 = 21 -&gt; V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0" lvl="0" marL="736600" rtl="0" algn="l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E + N = (4 + 13) mod 26 = 17 -&gt; R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0" lvl="0" marL="736600" rtl="0" algn="l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L + E = (11 + 4) mod 26 = 15 -&gt; P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0" lvl="0" marL="736600" rtl="0" algn="l">
              <a:lnSpc>
                <a:spcPct val="115000"/>
              </a:lnSpc>
              <a:spcBef>
                <a:spcPts val="3400"/>
              </a:spcBef>
              <a:spcAft>
                <a:spcPts val="3400"/>
              </a:spcAft>
              <a:buNone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P + O = (15 + 14) mod 26 = 3 -&gt; D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53" name="Google Shape;25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202" y="1693849"/>
            <a:ext cx="5692825" cy="562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/>
          <p:nvPr/>
        </p:nvSpPr>
        <p:spPr>
          <a:xfrm>
            <a:off x="495150" y="2232215"/>
            <a:ext cx="7404000" cy="46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-552450" lvl="0" marL="736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Roboto"/>
              <a:buChar char="●"/>
            </a:pPr>
            <a:r>
              <a:rPr lang="en-US" sz="2900">
                <a:latin typeface="Raleway"/>
                <a:ea typeface="Raleway"/>
                <a:cs typeface="Raleway"/>
                <a:sym typeface="Raleway"/>
              </a:rPr>
              <a:t>Використовує ключове слово для шифрування. Наприклад, ключ "</a:t>
            </a:r>
            <a:r>
              <a:rPr b="1" lang="en-US" sz="29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CAT</a:t>
            </a:r>
            <a:r>
              <a:rPr lang="en-US" sz="2900">
                <a:latin typeface="Raleway"/>
                <a:ea typeface="Raleway"/>
                <a:cs typeface="Raleway"/>
                <a:sym typeface="Raleway"/>
              </a:rPr>
              <a:t>" і текст "</a:t>
            </a:r>
            <a:r>
              <a:rPr lang="en-US" sz="3400">
                <a:solidFill>
                  <a:srgbClr val="FF6D0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Vigenere</a:t>
            </a:r>
            <a:r>
              <a:rPr lang="en-US" sz="3400">
                <a:solidFill>
                  <a:srgbClr val="0A6CC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900">
                <a:latin typeface="Raleway"/>
                <a:ea typeface="Raleway"/>
                <a:cs typeface="Raleway"/>
                <a:sym typeface="Raleway"/>
              </a:rPr>
              <a:t>".</a:t>
            </a:r>
            <a:endParaRPr sz="2900">
              <a:latin typeface="Raleway"/>
              <a:ea typeface="Raleway"/>
              <a:cs typeface="Raleway"/>
              <a:sym typeface="Raleway"/>
            </a:endParaRPr>
          </a:p>
          <a:p>
            <a:pPr indent="-552450" lvl="0" marL="736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Raleway"/>
              <a:buChar char="●"/>
            </a:pPr>
            <a:r>
              <a:rPr lang="en-US" sz="2900">
                <a:latin typeface="Raleway"/>
                <a:ea typeface="Raleway"/>
                <a:cs typeface="Raleway"/>
                <a:sym typeface="Raleway"/>
              </a:rPr>
              <a:t>Кожна літера ключа зміщує відповідну літеру тексту за таблицею (Tabula Recta).</a:t>
            </a:r>
            <a:endParaRPr sz="2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9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9" name="Google Shape;259;p38"/>
          <p:cNvSpPr txBox="1"/>
          <p:nvPr/>
        </p:nvSpPr>
        <p:spPr>
          <a:xfrm>
            <a:off x="0" y="0"/>
            <a:ext cx="115185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6D01"/>
                </a:solidFill>
                <a:latin typeface="Raleway"/>
                <a:ea typeface="Raleway"/>
                <a:cs typeface="Raleway"/>
                <a:sym typeface="Raleway"/>
              </a:rPr>
              <a:t>Шифр Віжинера</a:t>
            </a:r>
            <a:endParaRPr sz="3800">
              <a:solidFill>
                <a:srgbClr val="FF6D0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60" name="Google Shape;26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7640" y="717240"/>
            <a:ext cx="4019400" cy="400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61" name="Google Shape;261;p38"/>
          <p:cNvSpPr txBox="1"/>
          <p:nvPr/>
        </p:nvSpPr>
        <p:spPr>
          <a:xfrm>
            <a:off x="8862640" y="5341320"/>
            <a:ext cx="48000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6D01"/>
                </a:solidFill>
                <a:latin typeface="Raleway"/>
                <a:ea typeface="Raleway"/>
                <a:cs typeface="Raleway"/>
                <a:sym typeface="Raleway"/>
              </a:rPr>
              <a:t>Кіт Віжинера</a:t>
            </a:r>
            <a:endParaRPr sz="3800">
              <a:solidFill>
                <a:srgbClr val="FF6D0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/>
        </p:nvSpPr>
        <p:spPr>
          <a:xfrm>
            <a:off x="5088025" y="645450"/>
            <a:ext cx="9103200" cy="55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736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Завдання</a:t>
            </a:r>
            <a:endParaRPr sz="3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736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508000" lvl="0" marL="736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aleway"/>
              <a:buAutoNum type="arabicPeriod"/>
            </a:pPr>
            <a:r>
              <a:rPr lang="en-US" sz="3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Створіть таблицю  </a:t>
            </a:r>
            <a:r>
              <a:rPr lang="en-US" sz="3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Tabula Recta</a:t>
            </a:r>
            <a:r>
              <a:rPr lang="en-US" sz="3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для шифрування Віженером  українських текстів</a:t>
            </a:r>
            <a:endParaRPr sz="3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609600" lvl="0" marL="736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aleway"/>
              <a:buAutoNum type="arabicPeriod"/>
            </a:pPr>
            <a:r>
              <a:rPr lang="en-US" sz="3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Напишіть програму шифрування та дешифрування шифром ВІженера та додайте її в Colab</a:t>
            </a:r>
            <a:endParaRPr sz="3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736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"/>
          <p:cNvSpPr txBox="1"/>
          <p:nvPr/>
        </p:nvSpPr>
        <p:spPr>
          <a:xfrm>
            <a:off x="0" y="0"/>
            <a:ext cx="14140200" cy="33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3500">
                <a:latin typeface="Raleway"/>
                <a:ea typeface="Raleway"/>
                <a:cs typeface="Raleway"/>
                <a:sym typeface="Raleway"/>
              </a:rPr>
              <a:t> План дешифрування шифру Віженера без ключа</a:t>
            </a:r>
            <a:endParaRPr b="1" sz="35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1. Визначте ймовірну довжину ключа</a:t>
            </a:r>
            <a:endParaRPr b="1"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– Якщо текст достатньо довгий, спробуйте знайти </a:t>
            </a: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повторювані фрагменти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. Це може дати підказку через метод Казіскі.</a:t>
            </a:r>
            <a:br>
              <a:rPr lang="en-US" sz="3300">
                <a:latin typeface="Raleway"/>
                <a:ea typeface="Raleway"/>
                <a:cs typeface="Raleway"/>
                <a:sym typeface="Raleway"/>
              </a:rPr>
            </a:b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 – Альтернативно — використайте </a:t>
            </a: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індекс відповідності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, який покаже, при якій довжині ключа текст найбільше відповідає закономірностям української мови.</a:t>
            </a: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2. Розбийте шифротекст на блоки</a:t>
            </a:r>
            <a:endParaRPr b="1"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Наприклад, якщо підозрюєте, що довжина ключа дорівнює </a:t>
            </a: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3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, розбийте текст </a:t>
            </a:r>
            <a:r>
              <a:rPr lang="en-US" sz="33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ФЦЗПЦНІРФ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 на три групи:</a:t>
            </a: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SzPts val="3300"/>
              <a:buChar char="●"/>
            </a:pP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1 група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: Ф – П – І</a:t>
            </a:r>
            <a:br>
              <a:rPr lang="en-US" sz="3300">
                <a:latin typeface="Raleway"/>
                <a:ea typeface="Raleway"/>
                <a:cs typeface="Raleway"/>
                <a:sym typeface="Raleway"/>
              </a:rPr>
            </a:b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2 група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: Ц – Ц – Р</a:t>
            </a:r>
            <a:br>
              <a:rPr lang="en-US" sz="3300">
                <a:latin typeface="Raleway"/>
                <a:ea typeface="Raleway"/>
                <a:cs typeface="Raleway"/>
                <a:sym typeface="Raleway"/>
              </a:rPr>
            </a:b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3 група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: З – Н – Ф</a:t>
            </a:r>
            <a:br>
              <a:rPr lang="en-US" sz="3300">
                <a:latin typeface="Raleway"/>
                <a:ea typeface="Raleway"/>
                <a:cs typeface="Raleway"/>
                <a:sym typeface="Raleway"/>
              </a:rPr>
            </a:b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3. Проведіть частотний аналіз кожної групи</a:t>
            </a:r>
            <a:endParaRPr b="1"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У кожній групі визначте </a:t>
            </a: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найчастішу літеру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.</a:t>
            </a:r>
            <a:br>
              <a:rPr lang="en-US" sz="3300">
                <a:latin typeface="Raleway"/>
                <a:ea typeface="Raleway"/>
                <a:cs typeface="Raleway"/>
                <a:sym typeface="Raleway"/>
              </a:rPr>
            </a:b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 Припустіть, що ця літера відповідає </a:t>
            </a: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найчастішій в українській мові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 — наприклад, </a:t>
            </a: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О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 або </a:t>
            </a: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А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▶️ </a:t>
            </a: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Приклад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:</a:t>
            </a:r>
            <a:br>
              <a:rPr lang="en-US" sz="3300">
                <a:latin typeface="Raleway"/>
                <a:ea typeface="Raleway"/>
                <a:cs typeface="Raleway"/>
                <a:sym typeface="Raleway"/>
              </a:rPr>
            </a:b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 Найчастіша літера — Ц. Якщо припустити, що вона відповідає </a:t>
            </a: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О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, то зсув = позиція(Ц) − позиція(О).</a:t>
            </a: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4. Відновіть ключ</a:t>
            </a:r>
            <a:endParaRPr b="1"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Знайдіть зсув для кожної групи та відповідної позиції. Це дозволить визначити </a:t>
            </a: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ймовірний ключ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, що використовувався при шифруванні.</a:t>
            </a: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5. Проведіть розшифрування</a:t>
            </a:r>
            <a:endParaRPr b="1"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Застосуйте відновлений ключ у класичному алгоритмі дешифрування шифру Віженера, працюючи з кожною літерою тексту.</a:t>
            </a: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📌 </a:t>
            </a: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Примітка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:</a:t>
            </a:r>
            <a:endParaRPr sz="3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5100"/>
              </a:spcAft>
              <a:buNone/>
            </a:pP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Якщо ваш шифротекст короткий, як-от </a:t>
            </a:r>
            <a:r>
              <a:rPr lang="en-US" sz="33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ФЦЗПЦНІРФ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, то частотний аналіз може бути </a:t>
            </a: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недостатньо точним</a:t>
            </a:r>
            <a:r>
              <a:rPr lang="en-US" sz="3300">
                <a:latin typeface="Raleway"/>
                <a:ea typeface="Raleway"/>
                <a:cs typeface="Raleway"/>
                <a:sym typeface="Raleway"/>
              </a:rPr>
              <a:t>, бо занадто мало даних для статистики. Ці методи набагато ефективніші при роботі з довгими повідомленнями (від 50 символів і більше).</a:t>
            </a:r>
            <a:endParaRPr sz="33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1" title="Link-PNG-Photo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2225" y="4376250"/>
            <a:ext cx="2240826" cy="224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225" y="681700"/>
            <a:ext cx="3474700" cy="231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1"/>
          <p:cNvSpPr txBox="1"/>
          <p:nvPr/>
        </p:nvSpPr>
        <p:spPr>
          <a:xfrm>
            <a:off x="7139775" y="1440200"/>
            <a:ext cx="5583300" cy="3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6"/>
              </a:rPr>
              <a:t>Шифрування та розшифрування шифром Вегенера</a:t>
            </a:r>
            <a:endParaRPr sz="44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/>
          <p:nvPr/>
        </p:nvSpPr>
        <p:spPr>
          <a:xfrm>
            <a:off x="0" y="0"/>
            <a:ext cx="14174100" cy="4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Шифр Бофора</a:t>
            </a:r>
            <a:br>
              <a:rPr b="1" lang="en-US" sz="3200">
                <a:latin typeface="Raleway"/>
                <a:ea typeface="Raleway"/>
                <a:cs typeface="Raleway"/>
                <a:sym typeface="Raleway"/>
              </a:rPr>
            </a:br>
            <a:r>
              <a:rPr lang="en-US" sz="3200">
                <a:latin typeface="Raleway"/>
                <a:ea typeface="Raleway"/>
                <a:cs typeface="Raleway"/>
                <a:sym typeface="Raleway"/>
              </a:rPr>
              <a:t>Схожий на Віженера, але замість додавання порядкового номера ключової літери — віднімання. Це створює ефект зворотного зміщення. Наприклад, при використанні тієї ж таблиці Віженера, шукаємо букву відкритого тексту в рядку ключової літери й дивимося, у якому стовпчику вона знаходиться.</a:t>
            </a:r>
            <a:endParaRPr sz="3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5100"/>
              </a:spcAft>
              <a:buNone/>
            </a:pPr>
            <a:r>
              <a:rPr b="1" lang="en-US" sz="3200">
                <a:latin typeface="Raleway"/>
                <a:ea typeface="Raleway"/>
                <a:cs typeface="Raleway"/>
                <a:sym typeface="Raleway"/>
              </a:rPr>
              <a:t>Приклад:</a:t>
            </a:r>
            <a:endParaRPr b="1" sz="3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7" name="Google Shape;287;p42"/>
          <p:cNvSpPr txBox="1"/>
          <p:nvPr/>
        </p:nvSpPr>
        <p:spPr>
          <a:xfrm>
            <a:off x="119500" y="5207525"/>
            <a:ext cx="6951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Відкритий текст: К О Д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Ключ:            			С О Л</a:t>
            </a:r>
            <a:endParaRPr b="1"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/>
          <p:nvPr/>
        </p:nvSpPr>
        <p:spPr>
          <a:xfrm>
            <a:off x="0" y="0"/>
            <a:ext cx="15147300" cy="41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Автоключовий шифр</a:t>
            </a:r>
            <a:br>
              <a:rPr b="1" lang="en-US" sz="3900">
                <a:latin typeface="Raleway"/>
                <a:ea typeface="Raleway"/>
                <a:cs typeface="Raleway"/>
                <a:sym typeface="Raleway"/>
              </a:rPr>
            </a:br>
            <a:r>
              <a:rPr lang="en-US" sz="3800">
                <a:latin typeface="Raleway"/>
                <a:ea typeface="Raleway"/>
                <a:cs typeface="Raleway"/>
                <a:sym typeface="Raleway"/>
              </a:rPr>
              <a:t>Початкова частина ключа — це слово (наприклад, "КОД"), а далі підставляється сам відкритий текст. Таким чином, кожна наступна літера шифрується на основі попереднього змісту.</a:t>
            </a:r>
            <a:endParaRPr sz="3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5100"/>
              </a:spcAft>
              <a:buNone/>
            </a:pPr>
            <a:r>
              <a:rPr b="1" lang="en-US" sz="3900">
                <a:latin typeface="Raleway"/>
                <a:ea typeface="Raleway"/>
                <a:cs typeface="Raleway"/>
                <a:sym typeface="Raleway"/>
              </a:rPr>
              <a:t>Приклад:</a:t>
            </a:r>
            <a:endParaRPr b="1" sz="39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4" name="Google Shape;294;p43"/>
          <p:cNvSpPr txBox="1"/>
          <p:nvPr/>
        </p:nvSpPr>
        <p:spPr>
          <a:xfrm>
            <a:off x="495125" y="4695300"/>
            <a:ext cx="11630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/>
              <a:t>Відкритий текст: І Н Ф О Р М А Т И К А</a:t>
            </a:r>
            <a:endParaRPr b="1" sz="3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/>
              <a:t>Ключ:            			К О Д І Н Ф О Р М А Т</a:t>
            </a:r>
            <a:endParaRPr b="1" sz="3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"/>
          <p:cNvSpPr txBox="1"/>
          <p:nvPr/>
        </p:nvSpPr>
        <p:spPr>
          <a:xfrm>
            <a:off x="0" y="0"/>
            <a:ext cx="14630400" cy="59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Шифр Плейфера</a:t>
            </a:r>
            <a:br>
              <a:rPr b="1" lang="en-US" sz="2600">
                <a:latin typeface="Raleway"/>
                <a:ea typeface="Raleway"/>
                <a:cs typeface="Raleway"/>
                <a:sym typeface="Raleway"/>
              </a:rPr>
            </a:br>
            <a:r>
              <a:rPr lang="en-US" sz="2600">
                <a:latin typeface="Raleway"/>
                <a:ea typeface="Raleway"/>
                <a:cs typeface="Raleway"/>
                <a:sym typeface="Raleway"/>
              </a:rPr>
              <a:t>Працює з парами літер. Будується таблиця 5×5 (без літери "Й" або об'єднання І та Й), в яку вписується ключове слово, а потім решта алфавіту.</a:t>
            </a:r>
            <a:endParaRPr sz="2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rPr b="1" lang="en-US" sz="2600">
                <a:latin typeface="Raleway"/>
                <a:ea typeface="Raleway"/>
                <a:cs typeface="Raleway"/>
                <a:sym typeface="Raleway"/>
              </a:rPr>
              <a:t>Правила:</a:t>
            </a:r>
            <a:endParaRPr b="1" sz="2600">
              <a:latin typeface="Raleway"/>
              <a:ea typeface="Raleway"/>
              <a:cs typeface="Raleway"/>
              <a:sym typeface="Raleway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SzPts val="2600"/>
              <a:buFont typeface="Raleway"/>
              <a:buChar char="●"/>
            </a:pPr>
            <a:r>
              <a:rPr lang="en-US" sz="2600">
                <a:latin typeface="Raleway"/>
                <a:ea typeface="Raleway"/>
                <a:cs typeface="Raleway"/>
                <a:sym typeface="Raleway"/>
              </a:rPr>
              <a:t>Якщо пара в одному рядку — замінюємо на праві букви.</a:t>
            </a:r>
            <a:endParaRPr sz="2600">
              <a:latin typeface="Raleway"/>
              <a:ea typeface="Raleway"/>
              <a:cs typeface="Raleway"/>
              <a:sym typeface="Raleway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Raleway"/>
              <a:buChar char="●"/>
            </a:pPr>
            <a:r>
              <a:rPr lang="en-US" sz="2600">
                <a:latin typeface="Raleway"/>
                <a:ea typeface="Raleway"/>
                <a:cs typeface="Raleway"/>
                <a:sym typeface="Raleway"/>
              </a:rPr>
              <a:t>Якщо пара в одному стовпчику — замінюємо на нижні.</a:t>
            </a:r>
            <a:endParaRPr sz="2600">
              <a:latin typeface="Raleway"/>
              <a:ea typeface="Raleway"/>
              <a:cs typeface="Raleway"/>
              <a:sym typeface="Raleway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Raleway"/>
              <a:buChar char="●"/>
            </a:pPr>
            <a:r>
              <a:rPr lang="en-US" sz="2600">
                <a:latin typeface="Raleway"/>
                <a:ea typeface="Raleway"/>
                <a:cs typeface="Raleway"/>
                <a:sym typeface="Raleway"/>
              </a:rPr>
              <a:t>Інакше утворюємо прямокутник і беремо протилежні кути по горизонталі.</a:t>
            </a:r>
            <a:endParaRPr sz="2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5100"/>
              </a:spcBef>
              <a:spcAft>
                <a:spcPts val="5100"/>
              </a:spcAft>
              <a:buNone/>
            </a:pPr>
            <a:r>
              <a:rPr b="1" lang="en-US" sz="2600">
                <a:latin typeface="Raleway"/>
                <a:ea typeface="Raleway"/>
                <a:cs typeface="Raleway"/>
                <a:sym typeface="Raleway"/>
              </a:rPr>
              <a:t>Приклад:</a:t>
            </a:r>
            <a:endParaRPr b="1" sz="2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1" name="Google Shape;301;p44"/>
          <p:cNvSpPr txBox="1"/>
          <p:nvPr/>
        </p:nvSpPr>
        <p:spPr>
          <a:xfrm>
            <a:off x="3278200" y="4883125"/>
            <a:ext cx="40494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Ключ: СЛОВО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Таблиця: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С Л О В А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Б Г Д Е Є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Ж З И К М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Н П Р Т У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Ф Х Ц Ч Ш</a:t>
            </a:r>
            <a:endParaRPr b="1" sz="2600"/>
          </a:p>
        </p:txBody>
      </p:sp>
      <p:sp>
        <p:nvSpPr>
          <p:cNvPr id="302" name="Google Shape;302;p44"/>
          <p:cNvSpPr txBox="1"/>
          <p:nvPr/>
        </p:nvSpPr>
        <p:spPr>
          <a:xfrm>
            <a:off x="6849525" y="5395350"/>
            <a:ext cx="76320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>
                <a:latin typeface="Raleway"/>
                <a:ea typeface="Raleway"/>
                <a:cs typeface="Raleway"/>
                <a:sym typeface="Raleway"/>
              </a:rPr>
              <a:t>Пара "ІН" → шукаємо І (рядок 3, стовпчик 3) і Н (рядок 4, стовпчик 1) → замінюємо на Ж і Ф</a:t>
            </a:r>
            <a:r>
              <a:rPr b="1" lang="en-US" sz="2600"/>
              <a:t>.</a:t>
            </a:r>
            <a:endParaRPr b="1" sz="2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/>
        </p:nvSpPr>
        <p:spPr>
          <a:xfrm>
            <a:off x="380575" y="1314700"/>
            <a:ext cx="14788800" cy="18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Індекс відповідності</a:t>
            </a:r>
            <a:endParaRPr b="1" sz="31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latin typeface="Raleway"/>
                <a:ea typeface="Raleway"/>
                <a:cs typeface="Raleway"/>
                <a:sym typeface="Raleway"/>
              </a:rPr>
              <a:t>ІВ</a:t>
            </a:r>
            <a:r>
              <a:rPr lang="en-US" sz="2400">
                <a:latin typeface="Raleway"/>
                <a:ea typeface="Raleway"/>
                <a:cs typeface="Raleway"/>
                <a:sym typeface="Raleway"/>
              </a:rPr>
              <a:t> — це ймовірність, що </a:t>
            </a:r>
            <a:r>
              <a:rPr b="1" lang="en-US" sz="2400">
                <a:latin typeface="Raleway"/>
                <a:ea typeface="Raleway"/>
                <a:cs typeface="Raleway"/>
                <a:sym typeface="Raleway"/>
              </a:rPr>
              <a:t>дві випадково обрані літери в тексті однакові</a:t>
            </a:r>
            <a:r>
              <a:rPr lang="en-US" sz="2400">
                <a:latin typeface="Raleway"/>
                <a:ea typeface="Raleway"/>
                <a:cs typeface="Raleway"/>
                <a:sym typeface="Raleway"/>
              </a:rPr>
              <a:t>. Він допомагає зламувати шифр Віженера: визначити, </a:t>
            </a:r>
            <a:r>
              <a:rPr b="1" lang="en-US" sz="2400">
                <a:latin typeface="Raleway"/>
                <a:ea typeface="Raleway"/>
                <a:cs typeface="Raleway"/>
                <a:sym typeface="Raleway"/>
              </a:rPr>
              <a:t>чи текст природний</a:t>
            </a:r>
            <a:r>
              <a:rPr lang="en-US" sz="2400">
                <a:latin typeface="Raleway"/>
                <a:ea typeface="Raleway"/>
                <a:cs typeface="Raleway"/>
                <a:sym typeface="Raleway"/>
              </a:rPr>
              <a:t>, і </a:t>
            </a:r>
            <a:r>
              <a:rPr b="1" lang="en-US" sz="2400">
                <a:latin typeface="Raleway"/>
                <a:ea typeface="Raleway"/>
                <a:cs typeface="Raleway"/>
                <a:sym typeface="Raleway"/>
              </a:rPr>
              <a:t>яка довжина ключа</a:t>
            </a:r>
            <a:r>
              <a:rPr lang="en-US" sz="24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/>
          </a:p>
        </p:txBody>
      </p:sp>
      <p:pic>
        <p:nvPicPr>
          <p:cNvPr id="309" name="Google Shape;30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7578" y="3198703"/>
            <a:ext cx="9085000" cy="401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5"/>
          <p:cNvSpPr txBox="1"/>
          <p:nvPr/>
        </p:nvSpPr>
        <p:spPr>
          <a:xfrm>
            <a:off x="0" y="3998325"/>
            <a:ext cx="47601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300">
                <a:latin typeface="Raleway"/>
                <a:ea typeface="Raleway"/>
                <a:cs typeface="Raleway"/>
                <a:sym typeface="Raleway"/>
              </a:rPr>
              <a:t> Як використовують:</a:t>
            </a:r>
            <a:endParaRPr b="1" sz="2300">
              <a:latin typeface="Raleway"/>
              <a:ea typeface="Raleway"/>
              <a:cs typeface="Raleway"/>
              <a:sym typeface="Raleway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AutoNum type="arabicPeriod"/>
            </a:pPr>
            <a:r>
              <a:rPr b="1" lang="en-US" sz="2100">
                <a:latin typeface="Raleway"/>
                <a:ea typeface="Raleway"/>
                <a:cs typeface="Raleway"/>
                <a:sym typeface="Raleway"/>
              </a:rPr>
              <a:t>Розбивають шифротекст</a:t>
            </a:r>
            <a:r>
              <a:rPr lang="en-US" sz="2100">
                <a:latin typeface="Raleway"/>
                <a:ea typeface="Raleway"/>
                <a:cs typeface="Raleway"/>
                <a:sym typeface="Raleway"/>
              </a:rPr>
              <a:t> на групи за підозрюваною довжиною ключа.</a:t>
            </a:r>
            <a:br>
              <a:rPr lang="en-US" sz="2100">
                <a:latin typeface="Raleway"/>
                <a:ea typeface="Raleway"/>
                <a:cs typeface="Raleway"/>
                <a:sym typeface="Raleway"/>
              </a:rPr>
            </a:br>
            <a:r>
              <a:rPr b="1" lang="en-US" sz="2100">
                <a:latin typeface="Raleway"/>
                <a:ea typeface="Raleway"/>
                <a:cs typeface="Raleway"/>
                <a:sym typeface="Raleway"/>
              </a:rPr>
              <a:t>Обчислюють ІВ кожної групи.</a:t>
            </a:r>
            <a:br>
              <a:rPr b="1" lang="en-US" sz="2100">
                <a:latin typeface="Raleway"/>
                <a:ea typeface="Raleway"/>
                <a:cs typeface="Raleway"/>
                <a:sym typeface="Raleway"/>
              </a:rPr>
            </a:br>
            <a:r>
              <a:rPr lang="en-US" sz="2100">
                <a:latin typeface="Raleway"/>
                <a:ea typeface="Raleway"/>
                <a:cs typeface="Raleway"/>
                <a:sym typeface="Raleway"/>
              </a:rPr>
              <a:t>Якщо ІВ ≈ 0.065 — імовірно, ця група відповідає українському тексту → ключ знайдено.</a:t>
            </a:r>
            <a:br>
              <a:rPr lang="en-US" sz="1300">
                <a:latin typeface="Raleway"/>
                <a:ea typeface="Raleway"/>
                <a:cs typeface="Raleway"/>
                <a:sym typeface="Raleway"/>
              </a:rPr>
            </a:br>
            <a:endParaRPr sz="13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6"/>
          <p:cNvSpPr txBox="1"/>
          <p:nvPr/>
        </p:nvSpPr>
        <p:spPr>
          <a:xfrm>
            <a:off x="0" y="0"/>
            <a:ext cx="14430300" cy="76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900">
                <a:latin typeface="Raleway"/>
                <a:ea typeface="Raleway"/>
                <a:cs typeface="Raleway"/>
                <a:sym typeface="Raleway"/>
              </a:rPr>
              <a:t>✅ 1. Розрахунок вручну</a:t>
            </a:r>
            <a:endParaRPr b="1" sz="2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ІВ обчислюється за формулою: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SzPts val="2700"/>
              <a:buFont typeface="Raleway"/>
              <a:buChar char="●"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fi​ — кількість кожної літери в тексті (частота),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Char char="●"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N — загальна кількість літер у тексті.</a:t>
            </a:r>
            <a:br>
              <a:rPr lang="en-US" sz="2700">
                <a:latin typeface="Raleway"/>
                <a:ea typeface="Raleway"/>
                <a:cs typeface="Raleway"/>
                <a:sym typeface="Raleway"/>
              </a:rPr>
            </a:br>
            <a:r>
              <a:rPr b="1" lang="en-US" sz="2900">
                <a:latin typeface="Raleway"/>
                <a:ea typeface="Raleway"/>
                <a:cs typeface="Raleway"/>
                <a:sym typeface="Raleway"/>
              </a:rPr>
              <a:t> Приклад для тексту: "ПРИВІТ"</a:t>
            </a:r>
            <a:endParaRPr b="1" sz="2900">
              <a:latin typeface="Raleway"/>
              <a:ea typeface="Raleway"/>
              <a:cs typeface="Raleway"/>
              <a:sym typeface="Raleway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AutoNum type="arabicPeriod"/>
            </a:pP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Алфавітні літери: П, Р, И, В, І, Т — усі різні</a:t>
            </a:r>
            <a:br>
              <a:rPr lang="en-US" sz="2700">
                <a:latin typeface="Raleway"/>
                <a:ea typeface="Raleway"/>
                <a:cs typeface="Raleway"/>
                <a:sym typeface="Raleway"/>
              </a:rPr>
            </a:b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Частоти: кожна літера по 1 разу → всі fi=1f_i = 1fi​=1</a:t>
            </a:r>
            <a:br>
              <a:rPr lang="en-US" sz="2700">
                <a:latin typeface="Raleway"/>
                <a:ea typeface="Raleway"/>
                <a:cs typeface="Raleway"/>
                <a:sym typeface="Raleway"/>
              </a:rPr>
            </a:b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Формула:</a:t>
            </a:r>
            <a:br>
              <a:rPr lang="en-US" sz="2700">
                <a:latin typeface="Raleway"/>
                <a:ea typeface="Raleway"/>
                <a:cs typeface="Raleway"/>
                <a:sym typeface="Raleway"/>
              </a:rPr>
            </a:b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 IC=6⋅(1⋅0)6⋅5=0IC = 6⋅56⋅(1⋅0)​=0</a:t>
            </a:r>
            <a:br>
              <a:rPr lang="en-US" sz="2700">
                <a:latin typeface="Raleway"/>
                <a:ea typeface="Raleway"/>
                <a:cs typeface="Raleway"/>
                <a:sym typeface="Raleway"/>
              </a:rPr>
            </a:b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 → Для коротких текстів ІВ ≈ 0, результат ненадійний.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b="1" lang="en-US" sz="2900">
                <a:latin typeface="Raleway"/>
                <a:ea typeface="Raleway"/>
                <a:cs typeface="Raleway"/>
                <a:sym typeface="Raleway"/>
              </a:rPr>
              <a:t>✅ 2. </a:t>
            </a:r>
            <a:r>
              <a:rPr b="1" lang="en-US" sz="29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Python-реалізація</a:t>
            </a:r>
            <a:endParaRPr b="1" sz="29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300"/>
              </a:spcBef>
              <a:spcAft>
                <a:spcPts val="3300"/>
              </a:spcAft>
              <a:buNone/>
            </a:pPr>
            <a:r>
              <a:rPr b="1" lang="en-US" sz="2900">
                <a:latin typeface="Raleway"/>
                <a:ea typeface="Raleway"/>
                <a:cs typeface="Raleway"/>
                <a:sym typeface="Raleway"/>
              </a:rPr>
              <a:t>✅ 3. </a:t>
            </a: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 Онлайн-інструменти: </a:t>
            </a:r>
            <a:r>
              <a:rPr lang="en-US" sz="27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quipqiup.com</a:t>
            </a:r>
            <a:r>
              <a:rPr lang="en-US" sz="2700">
                <a:latin typeface="Raleway"/>
                <a:ea typeface="Raleway"/>
                <a:cs typeface="Raleway"/>
                <a:sym typeface="Raleway"/>
              </a:rPr>
              <a:t> — для англійських шифрів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17" name="Google Shape;31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7375" y="288972"/>
            <a:ext cx="3037100" cy="133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/>
          <p:nvPr>
            <p:ph idx="1" type="body"/>
          </p:nvPr>
        </p:nvSpPr>
        <p:spPr>
          <a:xfrm>
            <a:off x="1429920" y="7439940"/>
            <a:ext cx="10340100" cy="5610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latin typeface="Raleway"/>
                <a:ea typeface="Raleway"/>
                <a:cs typeface="Raleway"/>
                <a:sym typeface="Raleway"/>
              </a:rPr>
              <a:t>Сергій Яковлев</a:t>
            </a:r>
            <a:endParaRPr sz="2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4" name="Google Shape;324;p4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Курс &quot;Симетрична криптографія&quot;, лекція 06bis (додаткова лекція, дозапис 2020 р.)&#10;Розглянуто такі питання:&#10;-- структурні особливості шифру Віженера, етапи побудови атаки;&#10;-- методи знаходження довжини ключа за шифротекстом;&#10;-- методи знаходження символів ключа за шифротекстом;&#10;-- взаємний індекс відповідності (mutual index of coincidence) та його застосування.&#10;&#10;Лектор: Сергій Яковлєв" id="325" name="Google Shape;325;p47" title="Симетрична криптографія, лекція 06bis-2: криптоаналіз шифру Віженера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3650" y="313575"/>
            <a:ext cx="11867775" cy="667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tonio templat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