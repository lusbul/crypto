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8229600" cx="14630400"/>
  <p:notesSz cx="8229600" cy="146304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Overpass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  <p:embeddedFont>
      <p:font typeface="Merriweather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9A343-5ADB-4B09-9824-909BCD787FC2}">
  <a:tblStyle styleId="{3079A343-5ADB-4B09-9824-909BCD787FC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22" Type="http://schemas.openxmlformats.org/officeDocument/2006/relationships/font" Target="fonts/Overpass-bold.fntdata"/><Relationship Id="rId21" Type="http://schemas.openxmlformats.org/officeDocument/2006/relationships/font" Target="fonts/Overpass-regular.fntdata"/><Relationship Id="rId24" Type="http://schemas.openxmlformats.org/officeDocument/2006/relationships/font" Target="fonts/Overpass-boldItalic.fntdata"/><Relationship Id="rId23" Type="http://schemas.openxmlformats.org/officeDocument/2006/relationships/font" Target="fonts/Overpas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italic.fntdata"/><Relationship Id="rId3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Merriweather-boldItalic.fntdata"/><Relationship Id="rId13" Type="http://schemas.openxmlformats.org/officeDocument/2006/relationships/font" Target="fonts/Raleway-regular.fntdata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36" Type="http://schemas.openxmlformats.org/officeDocument/2006/relationships/font" Target="fonts/OpenSans-boldItalic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Lato-italic.fntdata"/><Relationship Id="rId1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67bad73da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67bad73da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467bad73da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d97d9b7b6_0_95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d97d9b7b6_0_95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d97d9b7b6_0_77:notes"/>
          <p:cNvSpPr/>
          <p:nvPr>
            <p:ph idx="2" type="sldImg"/>
          </p:nvPr>
        </p:nvSpPr>
        <p:spPr>
          <a:xfrm>
            <a:off x="685800" y="1143000"/>
            <a:ext cx="54864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5d97d9b7b6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125" spcFirstLastPara="1" rIns="9312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5d97d9b7b6_0_77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25" lIns="93125" spcFirstLastPara="1" rIns="93125" wrap="square" tIns="46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500"/>
              <a:t>‹#›</a:t>
            </a:fld>
            <a:endParaRPr sz="15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96ffd86cf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96ffd86cf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96ffd86cf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d97d9b7b6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d97d9b7b6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5d97d9b7b6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7e0325d2a_0_1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67e0325d2a_0_1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32360" y="4420360"/>
            <a:ext cx="10778400" cy="18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9501194" y="40530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655778" y="40530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" y="405306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154279" y="40530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4630400" cy="6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1097280" y="2533348"/>
            <a:ext cx="12435900" cy="1855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097280" y="4544085"/>
            <a:ext cx="12435900" cy="12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76326" y="6388560"/>
            <a:ext cx="48762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754033" y="6388560"/>
            <a:ext cx="48762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" y="6388560"/>
            <a:ext cx="48762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736680" y="3458880"/>
            <a:ext cx="9157800" cy="1311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 rtl="0" algn="ctr">
              <a:spcBef>
                <a:spcPts val="1000"/>
              </a:spcBef>
              <a:spcAft>
                <a:spcPts val="0"/>
              </a:spcAft>
              <a:buSzPts val="3800"/>
              <a:buChar char="▷"/>
              <a:defRPr i="1"/>
            </a:lvl1pPr>
            <a:lvl2pPr indent="-469900" lvl="1" marL="9144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2pPr>
            <a:lvl3pPr indent="-469900" lvl="2" marL="13716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3pPr>
            <a:lvl4pPr indent="-469900" lvl="3" marL="18288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4pPr>
            <a:lvl5pPr indent="-469900" lvl="4" marL="22860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5pPr>
            <a:lvl6pPr indent="-469900" lvl="5" marL="27432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6pPr>
            <a:lvl7pPr indent="-469900" lvl="6" marL="32004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7pPr>
            <a:lvl8pPr indent="-469900" lvl="7" marL="36576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8pPr>
            <a:lvl9pPr indent="-469900" lvl="8" marL="411480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5749440" y="1890270"/>
            <a:ext cx="3131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0">
                <a:solidFill>
                  <a:schemeClr val="accent6"/>
                </a:solidFill>
              </a:rPr>
              <a:t>“</a:t>
            </a:r>
            <a:endParaRPr b="1" sz="15400">
              <a:solidFill>
                <a:schemeClr val="accent6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253" y="2559480"/>
            <a:ext cx="27366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94683" y="2559480"/>
            <a:ext cx="27366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" y="2559480"/>
            <a:ext cx="27366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36679" y="2559480"/>
            <a:ext cx="273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900"/>
              <a:buChar char="▷"/>
              <a:defRPr>
                <a:solidFill>
                  <a:schemeClr val="dk1"/>
                </a:solidFill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 b="1" sz="4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29800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▷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429920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5418246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9406571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indent="-2286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1" title="photo_2025-09-18_15-49-54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14475" y="1907150"/>
            <a:ext cx="5033100" cy="503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">
  <p:cSld name="BLANK_1_1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 1">
  <p:cSld name="BLANK_1_1_1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11450" y="6813450"/>
            <a:ext cx="98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CE5CD"/>
                </a:solidFill>
                <a:latin typeface="Raleway"/>
                <a:ea typeface="Raleway"/>
                <a:cs typeface="Raleway"/>
                <a:sym typeface="Raleway"/>
              </a:rPr>
              <a:t>ЗАВДАННЯ </a:t>
            </a:r>
            <a:endParaRPr b="1" sz="4800">
              <a:solidFill>
                <a:srgbClr val="FCE5C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3" title="eafd1209-e9c2-408c-b471-2dc2c919ed8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925" y="2404700"/>
            <a:ext cx="4408750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4">
  <p:cSld name="CAPTION_ONLY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5">
  <p:cSld name="CAPTION_ONLY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6">
  <p:cSld name="CAPTION_ONLY_6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Lato"/>
              <a:buChar char="▷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c1E4RbZBf6U?si=fj4aOzvbys2I1M1-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planetcalc.com/1434/" TargetMode="External"/><Relationship Id="rId6" Type="http://schemas.openxmlformats.org/officeDocument/2006/relationships/hyperlink" Target="https://planetcalc.com/1434/" TargetMode="External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lab.research.google.com/drive/1J4dGtml4MMPkJ4zze7gOa21oDzIhH-wp?usp=sharing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5" Type="http://schemas.openxmlformats.org/officeDocument/2006/relationships/hyperlink" Target="https://colab.research.google.com/drive/1J4dGtml4MMPkJ4zze7gOa21oDzIhH-wp?usp=sharing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858025" y="2846350"/>
            <a:ext cx="783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Шифр Цезаря</a:t>
            </a:r>
            <a:endParaRPr b="1" sz="6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/>
          <p:nvPr/>
        </p:nvSpPr>
        <p:spPr>
          <a:xfrm>
            <a:off x="793790" y="1791772"/>
            <a:ext cx="733305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4450"/>
              <a:buFont typeface="Merriweather"/>
              <a:buNone/>
            </a:pPr>
            <a:r>
              <a:rPr b="1" i="0" lang="en-US" sz="4450" u="none" cap="none" strike="noStrike">
                <a:solidFill>
                  <a:srgbClr val="403C4E"/>
                </a:solidFill>
                <a:latin typeface="Raleway"/>
                <a:ea typeface="Raleway"/>
                <a:cs typeface="Raleway"/>
                <a:sym typeface="Raleway"/>
              </a:rPr>
              <a:t>Практика: Шифр Цезаря</a:t>
            </a:r>
            <a:endParaRPr i="0" sz="445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1" name="Google Shape;181;p30"/>
          <p:cNvSpPr/>
          <p:nvPr/>
        </p:nvSpPr>
        <p:spPr>
          <a:xfrm>
            <a:off x="793790" y="2840712"/>
            <a:ext cx="3664863" cy="2047994"/>
          </a:xfrm>
          <a:prstGeom prst="roundRect">
            <a:avLst>
              <a:gd fmla="val 4652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/>
          <p:nvPr/>
        </p:nvSpPr>
        <p:spPr>
          <a:xfrm>
            <a:off x="1028224" y="307514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Кодування</a:t>
            </a:r>
            <a:endParaRPr b="0" i="0" sz="2200" u="none" cap="none" strike="noStrike"/>
          </a:p>
        </p:txBody>
      </p:sp>
      <p:sp>
        <p:nvSpPr>
          <p:cNvPr id="183" name="Google Shape;183;p30"/>
          <p:cNvSpPr/>
          <p:nvPr/>
        </p:nvSpPr>
        <p:spPr>
          <a:xfrm>
            <a:off x="1028224" y="3565565"/>
            <a:ext cx="319599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Зсув кожної літери на задану кількість позицій.</a:t>
            </a:r>
            <a:endParaRPr b="0" i="0" sz="1750" u="none" cap="none" strike="noStrike"/>
          </a:p>
        </p:txBody>
      </p:sp>
      <p:sp>
        <p:nvSpPr>
          <p:cNvPr id="184" name="Google Shape;184;p30"/>
          <p:cNvSpPr/>
          <p:nvPr/>
        </p:nvSpPr>
        <p:spPr>
          <a:xfrm>
            <a:off x="4685467" y="2840712"/>
            <a:ext cx="3664863" cy="2047994"/>
          </a:xfrm>
          <a:prstGeom prst="roundRect">
            <a:avLst>
              <a:gd fmla="val 4652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/>
          <p:nvPr/>
        </p:nvSpPr>
        <p:spPr>
          <a:xfrm>
            <a:off x="4919901" y="307514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Декодування</a:t>
            </a:r>
            <a:endParaRPr b="0" i="0" sz="2200" u="none" cap="none" strike="noStrike"/>
          </a:p>
        </p:txBody>
      </p:sp>
      <p:sp>
        <p:nvSpPr>
          <p:cNvPr id="186" name="Google Shape;186;p30"/>
          <p:cNvSpPr/>
          <p:nvPr/>
        </p:nvSpPr>
        <p:spPr>
          <a:xfrm>
            <a:off x="4919901" y="3565565"/>
            <a:ext cx="31959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Зворотний зсув для відновлення оригінального тексту.</a:t>
            </a:r>
            <a:endParaRPr b="0" i="0" sz="1750" u="none" cap="none" strike="noStrike"/>
          </a:p>
        </p:txBody>
      </p:sp>
      <p:sp>
        <p:nvSpPr>
          <p:cNvPr id="187" name="Google Shape;187;p30"/>
          <p:cNvSpPr/>
          <p:nvPr/>
        </p:nvSpPr>
        <p:spPr>
          <a:xfrm>
            <a:off x="793790" y="5115520"/>
            <a:ext cx="7556421" cy="1322189"/>
          </a:xfrm>
          <a:prstGeom prst="roundRect">
            <a:avLst>
              <a:gd fmla="val 7205" name="adj"/>
            </a:avLst>
          </a:prstGeom>
          <a:solidFill>
            <a:srgbClr val="FFD8CC"/>
          </a:solidFill>
          <a:ln cap="flat" cmpd="sng" w="9525">
            <a:solidFill>
              <a:srgbClr val="E5BE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2200"/>
              <a:buFont typeface="Merriweather"/>
              <a:buNone/>
            </a:pPr>
            <a:r>
              <a:rPr b="1" i="0" lang="en-US" sz="2200" u="none" cap="none" strike="noStrike">
                <a:solidFill>
                  <a:srgbClr val="403C4E"/>
                </a:solidFill>
                <a:latin typeface="Merriweather"/>
                <a:ea typeface="Merriweather"/>
                <a:cs typeface="Merriweather"/>
                <a:sym typeface="Merriweather"/>
              </a:rPr>
              <a:t>Приклад</a:t>
            </a:r>
            <a:endParaRPr b="0" i="0" sz="2200" u="none" cap="none" strike="noStrike"/>
          </a:p>
        </p:txBody>
      </p:sp>
      <p:sp>
        <p:nvSpPr>
          <p:cNvPr id="189" name="Google Shape;189;p30"/>
          <p:cNvSpPr/>
          <p:nvPr/>
        </p:nvSpPr>
        <p:spPr>
          <a:xfrm>
            <a:off x="1028224" y="5840373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3C4E"/>
              </a:buClr>
              <a:buSzPts val="1750"/>
              <a:buFont typeface="Open Sans"/>
              <a:buNone/>
            </a:pP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Зсув на 3: "А" стає "Г", "Б" стає "</a:t>
            </a:r>
            <a:r>
              <a:rPr lang="en-US" sz="175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Ґ</a:t>
            </a: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", </a:t>
            </a:r>
            <a:r>
              <a:rPr lang="en-US" sz="1750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"В" стає "Д"</a:t>
            </a:r>
            <a:r>
              <a:rPr b="0" i="0" lang="en-US" sz="1750" u="none" cap="none" strike="noStrike">
                <a:solidFill>
                  <a:srgbClr val="403C4E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1750" u="none" cap="none" strike="noStrike"/>
          </a:p>
        </p:txBody>
      </p:sp>
      <p:sp>
        <p:nvSpPr>
          <p:cNvPr id="190" name="Google Shape;190;p30">
            <a:hlinkClick r:id="rId3"/>
          </p:cNvPr>
          <p:cNvSpPr txBox="1"/>
          <p:nvPr/>
        </p:nvSpPr>
        <p:spPr>
          <a:xfrm>
            <a:off x="9249776" y="6812400"/>
            <a:ext cx="509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91" name="Google Shape;191;p30"/>
          <p:cNvPicPr preferRelativeResize="0"/>
          <p:nvPr/>
        </p:nvPicPr>
        <p:blipFill rotWithShape="1">
          <a:blip r:embed="rId4">
            <a:alphaModFix/>
          </a:blip>
          <a:srcRect b="0" l="12025" r="15094" t="21235"/>
          <a:stretch/>
        </p:blipFill>
        <p:spPr>
          <a:xfrm>
            <a:off x="9619425" y="2167825"/>
            <a:ext cx="3989800" cy="352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10067500" y="5369465"/>
            <a:ext cx="40896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Онлайн калькулятор цифра Цезаря (англ)</a:t>
            </a:r>
            <a:endParaRPr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3" name="Google Shape;193;p30" title="Link-PNG-Photo.png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44875" y="4941176"/>
            <a:ext cx="1626839" cy="1626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31"/>
          <p:cNvGraphicFramePr/>
          <p:nvPr/>
        </p:nvGraphicFramePr>
        <p:xfrm>
          <a:off x="146915" y="-217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{3079A343-5ADB-4B09-9824-909BCD787FC2}</a:tableStyleId>
              </a:tblPr>
              <a:tblGrid>
                <a:gridCol w="635800"/>
                <a:gridCol w="741725"/>
                <a:gridCol w="741725"/>
                <a:gridCol w="741725"/>
                <a:gridCol w="741725"/>
                <a:gridCol w="741725"/>
                <a:gridCol w="741725"/>
                <a:gridCol w="741725"/>
                <a:gridCol w="741725"/>
                <a:gridCol w="593425"/>
                <a:gridCol w="593425"/>
                <a:gridCol w="593425"/>
                <a:gridCol w="593425"/>
                <a:gridCol w="572225"/>
                <a:gridCol w="614600"/>
                <a:gridCol w="762950"/>
                <a:gridCol w="699350"/>
              </a:tblGrid>
              <a:tr h="127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А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Б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В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Г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г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Д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Е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Є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Ж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З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И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І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Ї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Й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К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D85C6"/>
                          </a:solidFill>
                        </a:rPr>
                        <a:t>Л</a:t>
                      </a:r>
                      <a:endParaRPr b="1" sz="4800">
                        <a:solidFill>
                          <a:srgbClr val="3D85C6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4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0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2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3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4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5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6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7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8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9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10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11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12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13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14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E69138"/>
                          </a:solidFill>
                        </a:rPr>
                        <a:t>15</a:t>
                      </a:r>
                      <a:endParaRPr sz="2400">
                        <a:solidFill>
                          <a:srgbClr val="E6913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М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Н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О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П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Р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С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Т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У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Ф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Ч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Ц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Ч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Ш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Щ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Ь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Ю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800">
                          <a:solidFill>
                            <a:srgbClr val="3C78D8"/>
                          </a:solidFill>
                        </a:rPr>
                        <a:t>Я</a:t>
                      </a:r>
                      <a:endParaRPr b="1" sz="4800">
                        <a:solidFill>
                          <a:srgbClr val="3C78D8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16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17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18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19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20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21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22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23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24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25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26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27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28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29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30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31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FF6D01"/>
                          </a:solidFill>
                        </a:rPr>
                        <a:t>32</a:t>
                      </a:r>
                      <a:endParaRPr sz="2400">
                        <a:solidFill>
                          <a:srgbClr val="FF6D01"/>
                        </a:solidFill>
                      </a:endParaRPr>
                    </a:p>
                  </a:txBody>
                  <a:tcPr marT="30475" marB="30475" marR="45725" marL="45725" anchor="b">
                    <a:lnL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31"/>
          <p:cNvSpPr txBox="1"/>
          <p:nvPr/>
        </p:nvSpPr>
        <p:spPr>
          <a:xfrm>
            <a:off x="2271150" y="5780935"/>
            <a:ext cx="48000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Приклад: «КІТ» → ?</a:t>
            </a:r>
            <a:endParaRPr sz="3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4050" y="4355925"/>
            <a:ext cx="3795900" cy="3714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787956" y="621030"/>
            <a:ext cx="63375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33939"/>
              </a:buClr>
              <a:buSzPts val="4500"/>
              <a:buFont typeface="Syne"/>
              <a:buNone/>
            </a:pPr>
            <a:r>
              <a:rPr b="1" i="0" lang="en-US" sz="4500" u="none" cap="none" strike="noStrike">
                <a:solidFill>
                  <a:srgbClr val="233939"/>
                </a:solidFill>
                <a:latin typeface="Raleway"/>
                <a:ea typeface="Raleway"/>
                <a:cs typeface="Raleway"/>
                <a:sym typeface="Raleway"/>
              </a:rPr>
              <a:t>Моноалфавітні шифри</a:t>
            </a:r>
            <a:endParaRPr i="0" sz="45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reencoded.png" id="207" name="Google Shape;2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956" y="1662351"/>
            <a:ext cx="1125736" cy="13508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/>
          <p:nvPr/>
        </p:nvSpPr>
        <p:spPr>
          <a:xfrm>
            <a:off x="2251353" y="1887498"/>
            <a:ext cx="281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Вибір алфавіту</a:t>
            </a:r>
            <a:endParaRPr i="0" sz="22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2251353" y="2374344"/>
            <a:ext cx="61047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Визначте алфавіт для шифрування.</a:t>
            </a:r>
            <a:endParaRPr b="0" i="0" sz="1800" u="none" cap="none" strike="noStrike"/>
          </a:p>
        </p:txBody>
      </p:sp>
      <p:pic>
        <p:nvPicPr>
          <p:cNvPr descr="preencoded.png" id="210" name="Google Shape;2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956" y="3013234"/>
            <a:ext cx="1125736" cy="13508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/>
          <p:nvPr/>
        </p:nvSpPr>
        <p:spPr>
          <a:xfrm>
            <a:off x="2251353" y="3238381"/>
            <a:ext cx="281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Зсув літер</a:t>
            </a:r>
            <a:endParaRPr i="0" sz="22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2251353" y="3725227"/>
            <a:ext cx="61047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Зсуньте алфавіт на певну кількість позицій.</a:t>
            </a:r>
            <a:endParaRPr b="0" i="0" sz="1800" u="none" cap="none" strike="noStrike"/>
          </a:p>
        </p:txBody>
      </p:sp>
      <p:pic>
        <p:nvPicPr>
          <p:cNvPr descr="preencoded.png" id="213" name="Google Shape;21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956" y="4364117"/>
            <a:ext cx="1125736" cy="165747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/>
          <p:nvPr/>
        </p:nvSpPr>
        <p:spPr>
          <a:xfrm>
            <a:off x="2251353" y="4589264"/>
            <a:ext cx="28143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Шифрування</a:t>
            </a:r>
            <a:endParaRPr i="0" sz="22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2251353" y="5076111"/>
            <a:ext cx="61047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b="0" i="0" lang="en-US" sz="1800" u="none" cap="none" strike="noStrike">
                <a:solidFill>
                  <a:srgbClr val="3B4E4E"/>
                </a:solidFill>
                <a:latin typeface="Overpass"/>
                <a:ea typeface="Overpass"/>
                <a:cs typeface="Overpass"/>
                <a:sym typeface="Overpass"/>
              </a:rPr>
              <a:t>Замініть кожну літеру на відповідну зі зсунутого алфавіту.</a:t>
            </a:r>
            <a:endParaRPr b="0" i="0" sz="1800" u="none" cap="none" strike="noStrike"/>
          </a:p>
        </p:txBody>
      </p:sp>
      <p:sp>
        <p:nvSpPr>
          <p:cNvPr id="216" name="Google Shape;216;p32"/>
          <p:cNvSpPr/>
          <p:nvPr/>
        </p:nvSpPr>
        <p:spPr>
          <a:xfrm>
            <a:off x="134100" y="6786970"/>
            <a:ext cx="143622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i="0" lang="en-US" sz="27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Шифр Цезаря — найвідоміший приклад. </a:t>
            </a:r>
            <a:endParaRPr i="0" sz="2700" u="none" cap="none" strike="noStrike">
              <a:solidFill>
                <a:srgbClr val="3B4E4E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B4E4E"/>
              </a:buClr>
              <a:buSzPts val="1800"/>
              <a:buFont typeface="Overpass"/>
              <a:buNone/>
            </a:pPr>
            <a:r>
              <a:rPr i="0" lang="en-US" sz="27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Зсу</a:t>
            </a:r>
            <a:r>
              <a:rPr lang="en-US" sz="2700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в </a:t>
            </a:r>
            <a:r>
              <a:rPr i="0" lang="en-US" sz="27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алфавіту на 3 літери: А → Г, Б → </a:t>
            </a:r>
            <a:r>
              <a:rPr lang="en-US" sz="2700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Ґ</a:t>
            </a:r>
            <a:r>
              <a:rPr i="0" lang="en-US" sz="27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, В → </a:t>
            </a:r>
            <a:r>
              <a:rPr lang="en-US" sz="2700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Д</a:t>
            </a:r>
            <a:r>
              <a:rPr i="0" lang="en-US" sz="2700" u="none" cap="none" strike="noStrike">
                <a:solidFill>
                  <a:srgbClr val="3B4E4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i="0" sz="2700" u="none" cap="none" strike="noStrike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7" name="Google Shape;21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8300" y="-205025"/>
            <a:ext cx="5337999" cy="800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1429800" y="1920250"/>
            <a:ext cx="98091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Формула: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E(x) = (x + k) mod n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D(x) = (x - k) mod n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Це приклад: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модульної арифметики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 txBox="1"/>
          <p:nvPr>
            <p:ph type="title"/>
          </p:nvPr>
        </p:nvSpPr>
        <p:spPr>
          <a:xfrm>
            <a:off x="1429926" y="573425"/>
            <a:ext cx="122097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Математична модель шифру Цезаря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/>
        </p:nvSpPr>
        <p:spPr>
          <a:xfrm>
            <a:off x="4645300" y="341475"/>
            <a:ext cx="99849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10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10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lt1"/>
                </a:solidFill>
                <a:highlight>
                  <a:srgbClr val="E69138"/>
                </a:highlight>
                <a:latin typeface="Roboto Mono"/>
                <a:ea typeface="Roboto Mono"/>
                <a:cs typeface="Roboto Mono"/>
                <a:sym typeface="Roboto Mono"/>
              </a:rPr>
              <a:t>Gvctxskvevtl mw xli wgmirgi sj tvsxigxmrk alexe</a:t>
            </a:r>
            <a:endParaRPr b="1" sz="4100">
              <a:solidFill>
                <a:schemeClr val="lt1"/>
              </a:solidFill>
              <a:highlight>
                <a:srgbClr val="E69138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lt1"/>
              </a:solidFill>
              <a:highlight>
                <a:srgbClr val="E69138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1" name="Google Shape;231;p34"/>
          <p:cNvSpPr txBox="1"/>
          <p:nvPr/>
        </p:nvSpPr>
        <p:spPr>
          <a:xfrm>
            <a:off x="5032075" y="3363550"/>
            <a:ext cx="7622700" cy="4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88950" lvl="0" marL="457200" rtl="0" algn="l">
              <a:lnSpc>
                <a:spcPct val="115000"/>
              </a:lnSpc>
              <a:spcBef>
                <a:spcPts val="4100"/>
              </a:spcBef>
              <a:spcAft>
                <a:spcPts val="0"/>
              </a:spcAft>
              <a:buSzPts val="4100"/>
              <a:buAutoNum type="arabicPeriod"/>
            </a:pPr>
            <a:r>
              <a:rPr lang="en-US" sz="4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Спробуйте визначити зсув, використовуючи логіку або підбір.</a:t>
            </a:r>
            <a:endParaRPr sz="4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488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100"/>
              <a:buAutoNum type="arabicPeriod"/>
            </a:pPr>
            <a:r>
              <a:rPr lang="en-US" sz="4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Розшифруйте повідомлення.</a:t>
            </a:r>
            <a:br>
              <a:rPr lang="en-US" sz="4100"/>
            </a:br>
            <a:endParaRPr sz="4100"/>
          </a:p>
        </p:txBody>
      </p:sp>
      <p:sp>
        <p:nvSpPr>
          <p:cNvPr id="232" name="Google Shape;232;p34"/>
          <p:cNvSpPr txBox="1"/>
          <p:nvPr/>
        </p:nvSpPr>
        <p:spPr>
          <a:xfrm>
            <a:off x="0" y="0"/>
            <a:ext cx="9984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100"/>
              </a:spcBef>
              <a:spcAft>
                <a:spcPts val="4100"/>
              </a:spcAft>
              <a:buNone/>
            </a:pPr>
            <a:r>
              <a:rPr lang="en-US" sz="4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🔒 Зашифроване повідомлення: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5" title="Без названия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20091" l="0" r="0" t="22142"/>
          <a:stretch/>
        </p:blipFill>
        <p:spPr>
          <a:xfrm>
            <a:off x="2994899" y="514926"/>
            <a:ext cx="7914675" cy="30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5" title="Link-PNG-Photo.png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62590" y="2062205"/>
            <a:ext cx="1495160" cy="149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 rotWithShape="1">
          <a:blip r:embed="rId7">
            <a:alphaModFix/>
          </a:blip>
          <a:srcRect b="0" l="12025" r="15094" t="21235"/>
          <a:stretch/>
        </p:blipFill>
        <p:spPr>
          <a:xfrm>
            <a:off x="3897280" y="5018400"/>
            <a:ext cx="2667194" cy="235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95080" y="4438267"/>
            <a:ext cx="2546640" cy="326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6520" y="5337141"/>
            <a:ext cx="3324884" cy="1900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638640" y="4289420"/>
            <a:ext cx="2546641" cy="356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