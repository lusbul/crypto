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Raleway"/>
      <p:regular r:id="rId18"/>
      <p:bold r:id="rId19"/>
      <p:italic r:id="rId20"/>
      <p:boldItalic r:id="rId21"/>
    </p:embeddedFont>
    <p:embeddedFont>
      <p:font typeface="Playfair Display"/>
      <p:regular r:id="rId22"/>
      <p:bold r:id="rId23"/>
      <p:italic r:id="rId24"/>
      <p:boldItalic r:id="rId25"/>
    </p:embeddedFont>
    <p:embeddedFont>
      <p:font typeface="Arimo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Merriweather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italic.fntdata"/><Relationship Id="rId20" Type="http://schemas.openxmlformats.org/officeDocument/2006/relationships/font" Target="fonts/Raleway-italic.fntdata"/><Relationship Id="rId41" Type="http://schemas.openxmlformats.org/officeDocument/2006/relationships/font" Target="fonts/Merriweather-boldItalic.fntdata"/><Relationship Id="rId22" Type="http://schemas.openxmlformats.org/officeDocument/2006/relationships/font" Target="fonts/PlayfairDisplay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PlayfairDisplay-italic.fntdata"/><Relationship Id="rId23" Type="http://schemas.openxmlformats.org/officeDocument/2006/relationships/font" Target="fonts/PlayfairDis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imo-regular.fntdata"/><Relationship Id="rId25" Type="http://schemas.openxmlformats.org/officeDocument/2006/relationships/font" Target="fonts/PlayfairDisplay-boldItalic.fntdata"/><Relationship Id="rId28" Type="http://schemas.openxmlformats.org/officeDocument/2006/relationships/font" Target="fonts/Arimo-italic.fntdata"/><Relationship Id="rId27" Type="http://schemas.openxmlformats.org/officeDocument/2006/relationships/font" Target="fonts/Arim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im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7.xml"/><Relationship Id="rId33" Type="http://schemas.openxmlformats.org/officeDocument/2006/relationships/font" Target="fonts/Lato-boldItalic.fntdata"/><Relationship Id="rId10" Type="http://schemas.openxmlformats.org/officeDocument/2006/relationships/slide" Target="slides/slide6.xml"/><Relationship Id="rId32" Type="http://schemas.openxmlformats.org/officeDocument/2006/relationships/font" Target="fonts/Lato-italic.fntdata"/><Relationship Id="rId13" Type="http://schemas.openxmlformats.org/officeDocument/2006/relationships/slide" Target="slides/slide9.xml"/><Relationship Id="rId35" Type="http://schemas.openxmlformats.org/officeDocument/2006/relationships/font" Target="fonts/Montserrat-bold.fntdata"/><Relationship Id="rId12" Type="http://schemas.openxmlformats.org/officeDocument/2006/relationships/slide" Target="slides/slide8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1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10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3.xml"/><Relationship Id="rId39" Type="http://schemas.openxmlformats.org/officeDocument/2006/relationships/font" Target="fonts/Merriweather-bold.fntdata"/><Relationship Id="rId16" Type="http://schemas.openxmlformats.org/officeDocument/2006/relationships/slide" Target="slides/slide12.xml"/><Relationship Id="rId38" Type="http://schemas.openxmlformats.org/officeDocument/2006/relationships/font" Target="fonts/Merriweather-regular.fntdata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67bad73da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67bad73da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467bad73da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f4fb04d6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f4fb04d6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f4fb04d6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f4fb04d62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f4fb04d62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f4fb04d62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f4fb04d62_1_12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f4fb04d62_1_12:notes"/>
          <p:cNvSpPr/>
          <p:nvPr>
            <p:ph idx="2" type="sldImg"/>
          </p:nvPr>
        </p:nvSpPr>
        <p:spPr>
          <a:xfrm>
            <a:off x="1371870" y="1097280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96ffd86cf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96ffd86cf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96ffd86cf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96ffd86cf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96ffd86cf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96ffd86cf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f4fb04d62_1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f4fb04d62_1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f4fb04d62_1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f4fb04d62_1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f4fb04d62_1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f4fb04d62_1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67bad73da_0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467bad73da_0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467bad73da_0_2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f61cfce41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f61cfce41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ef61cfce41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f61cfce4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f61cfce4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f61cfce4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032360" y="4420360"/>
            <a:ext cx="10778400" cy="18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9501194" y="40530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655778" y="40530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2" y="405306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154279" y="40530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0"/>
            <a:ext cx="14630400" cy="6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ctrTitle"/>
          </p:nvPr>
        </p:nvSpPr>
        <p:spPr>
          <a:xfrm>
            <a:off x="1097280" y="2533348"/>
            <a:ext cx="12435900" cy="1855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097280" y="4544085"/>
            <a:ext cx="12435900" cy="12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4876326" y="6388560"/>
            <a:ext cx="48762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754033" y="6388560"/>
            <a:ext cx="48762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" y="6388560"/>
            <a:ext cx="48762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" type="body"/>
          </p:nvPr>
        </p:nvSpPr>
        <p:spPr>
          <a:xfrm>
            <a:off x="2736680" y="3458880"/>
            <a:ext cx="9157800" cy="1311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 rtl="0" algn="ctr">
              <a:spcBef>
                <a:spcPts val="1000"/>
              </a:spcBef>
              <a:spcAft>
                <a:spcPts val="0"/>
              </a:spcAft>
              <a:buSzPts val="3800"/>
              <a:buChar char="▷"/>
              <a:defRPr i="1"/>
            </a:lvl1pPr>
            <a:lvl2pPr indent="-469900" lvl="1" marL="9144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2pPr>
            <a:lvl3pPr indent="-469900" lvl="2" marL="13716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3pPr>
            <a:lvl4pPr indent="-469900" lvl="3" marL="18288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4pPr>
            <a:lvl5pPr indent="-469900" lvl="4" marL="22860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5pPr>
            <a:lvl6pPr indent="-469900" lvl="5" marL="27432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6pPr>
            <a:lvl7pPr indent="-469900" lvl="6" marL="32004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7pPr>
            <a:lvl8pPr indent="-469900" lvl="7" marL="36576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8pPr>
            <a:lvl9pPr indent="-469900" lvl="8" marL="411480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5749440" y="1890270"/>
            <a:ext cx="31314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00">
                <a:solidFill>
                  <a:schemeClr val="accent6"/>
                </a:solidFill>
              </a:rPr>
              <a:t>“</a:t>
            </a:r>
            <a:endParaRPr b="1" sz="15400">
              <a:solidFill>
                <a:schemeClr val="accent6"/>
              </a:solidFill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157253" y="2559480"/>
            <a:ext cx="27366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894683" y="2559480"/>
            <a:ext cx="27366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" y="2559480"/>
            <a:ext cx="27366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736679" y="2559480"/>
            <a:ext cx="273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1275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900"/>
              <a:buChar char="▷"/>
              <a:defRPr>
                <a:solidFill>
                  <a:schemeClr val="dk1"/>
                </a:solidFill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None/>
              <a:defRPr b="1" sz="44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429800" y="1920240"/>
            <a:ext cx="50190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31800" lvl="0" marL="45720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▷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●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●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1429920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5418246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9406571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1429920" y="7439940"/>
            <a:ext cx="10340100" cy="561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indent="-2286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chemeClr val="accen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1" title="photo_2025-09-18_15-49-54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14475" y="1907150"/>
            <a:ext cx="5033100" cy="5033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">
  <p:cSld name="BLANK_1_1"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 1">
  <p:cSld name="BLANK_1_1_1">
    <p:bg>
      <p:bgPr>
        <a:solidFill>
          <a:schemeClr val="accen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11450" y="6813450"/>
            <a:ext cx="987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CE5CD"/>
                </a:solidFill>
                <a:latin typeface="Raleway"/>
                <a:ea typeface="Raleway"/>
                <a:cs typeface="Raleway"/>
                <a:sym typeface="Raleway"/>
              </a:rPr>
              <a:t>ЗАВДАННЯ </a:t>
            </a:r>
            <a:endParaRPr b="1" sz="4800">
              <a:solidFill>
                <a:srgbClr val="FCE5C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1" name="Google Shape;101;p13" title="eafd1209-e9c2-408c-b471-2dc2c919ed8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925" y="2404700"/>
            <a:ext cx="4408750" cy="44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6" name="Google Shape;10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3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3">
  <p:cSld name="CAPTION_ONLY_3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4">
  <p:cSld name="CAPTION_ONLY_4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5">
  <p:cSld name="CAPTION_ONLY_5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6">
  <p:cSld name="CAPTION_ONLY_6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800"/>
              <a:buFont typeface="Lato"/>
              <a:buChar char="▷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1.png"/><Relationship Id="rId13" Type="http://schemas.openxmlformats.org/officeDocument/2006/relationships/image" Target="../media/image15.png"/><Relationship Id="rId12" Type="http://schemas.openxmlformats.org/officeDocument/2006/relationships/image" Target="../media/image19.png"/><Relationship Id="rId15" Type="http://schemas.openxmlformats.org/officeDocument/2006/relationships/image" Target="../media/image24.png"/><Relationship Id="rId1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/>
        </p:nvSpPr>
        <p:spPr>
          <a:xfrm>
            <a:off x="858025" y="2846350"/>
            <a:ext cx="7836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Криптографія. Подорож у часі</a:t>
            </a:r>
            <a:endParaRPr b="1" sz="6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/>
        </p:nvSpPr>
        <p:spPr>
          <a:xfrm>
            <a:off x="981500" y="1887525"/>
            <a:ext cx="11721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Montserrat"/>
                <a:ea typeface="Montserrat"/>
                <a:cs typeface="Montserrat"/>
                <a:sym typeface="Montserrat"/>
              </a:rPr>
              <a:t>Навіщо люди взагалі почали приховувати інформацію?</a:t>
            </a:r>
            <a:endParaRPr sz="6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1"/>
          <p:cNvPicPr preferRelativeResize="0"/>
          <p:nvPr/>
        </p:nvPicPr>
        <p:blipFill rotWithShape="1">
          <a:blip r:embed="rId3">
            <a:alphaModFix/>
          </a:blip>
          <a:srcRect b="29119" l="0" r="38692" t="29248"/>
          <a:stretch/>
        </p:blipFill>
        <p:spPr>
          <a:xfrm>
            <a:off x="408113" y="1968025"/>
            <a:ext cx="13038475" cy="505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/>
        </p:nvSpPr>
        <p:spPr>
          <a:xfrm>
            <a:off x="1340350" y="627875"/>
            <a:ext cx="1087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Проюлема, яка народила криптографію</a:t>
            </a: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/>
          <p:nvPr/>
        </p:nvSpPr>
        <p:spPr>
          <a:xfrm>
            <a:off x="6280190" y="2184083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Криптографія: </a:t>
            </a:r>
            <a:endParaRPr b="1" i="0" sz="4450" u="none" cap="none" strike="noStrike">
              <a:solidFill>
                <a:srgbClr val="403C4E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таємниц</a:t>
            </a:r>
            <a:r>
              <a:rPr b="1" lang="en-US" sz="4450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і </a:t>
            </a:r>
            <a:r>
              <a:rPr b="1" i="0" lang="en-US" sz="445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 шифрування</a:t>
            </a:r>
            <a:endParaRPr i="0" sz="445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5" name="Google Shape;195;p32"/>
          <p:cNvSpPr/>
          <p:nvPr/>
        </p:nvSpPr>
        <p:spPr>
          <a:xfrm>
            <a:off x="5960126" y="4542025"/>
            <a:ext cx="86703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i="0" lang="en-US" sz="2950" u="none" cap="none" strike="noStrike">
                <a:latin typeface="Raleway"/>
                <a:ea typeface="Raleway"/>
                <a:cs typeface="Raleway"/>
                <a:sym typeface="Raleway"/>
              </a:rPr>
              <a:t>Криптографія – це наука про </a:t>
            </a:r>
            <a:r>
              <a:rPr i="0" lang="en-US" sz="2950" u="none" cap="none" strike="noStrike">
                <a:highlight>
                  <a:schemeClr val="accent2"/>
                </a:highlight>
                <a:latin typeface="Raleway"/>
                <a:ea typeface="Raleway"/>
                <a:cs typeface="Raleway"/>
                <a:sym typeface="Raleway"/>
              </a:rPr>
              <a:t>захист інформації</a:t>
            </a:r>
            <a:r>
              <a:rPr i="0" lang="en-US" sz="2950" u="none" cap="none" strike="noStrike">
                <a:latin typeface="Raleway"/>
                <a:ea typeface="Raleway"/>
                <a:cs typeface="Raleway"/>
                <a:sym typeface="Raleway"/>
              </a:rPr>
              <a:t>. </a:t>
            </a:r>
            <a:endParaRPr i="0" sz="2950" u="none" cap="none" strike="noStrike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i="0" lang="en-US" sz="2950" u="none" cap="none" strike="noStrike">
                <a:latin typeface="Raleway"/>
                <a:ea typeface="Raleway"/>
                <a:cs typeface="Raleway"/>
                <a:sym typeface="Raleway"/>
              </a:rPr>
              <a:t>Вона використовує </a:t>
            </a:r>
            <a:r>
              <a:rPr i="0" lang="en-US" sz="2950" u="none" cap="none" strike="noStrike">
                <a:highlight>
                  <a:schemeClr val="accent2"/>
                </a:highlight>
                <a:latin typeface="Raleway"/>
                <a:ea typeface="Raleway"/>
                <a:cs typeface="Raleway"/>
                <a:sym typeface="Raleway"/>
              </a:rPr>
              <a:t>математичні алгоритми</a:t>
            </a:r>
            <a:r>
              <a:rPr i="0" lang="en-US" sz="2950" u="none" cap="none" strike="noStrike">
                <a:latin typeface="Raleway"/>
                <a:ea typeface="Raleway"/>
                <a:cs typeface="Raleway"/>
                <a:sym typeface="Raleway"/>
              </a:rPr>
              <a:t> для </a:t>
            </a:r>
            <a:r>
              <a:rPr i="0" lang="en-US" sz="2950" u="none" cap="none" strike="noStrike">
                <a:highlight>
                  <a:schemeClr val="accent2"/>
                </a:highlight>
                <a:latin typeface="Raleway"/>
                <a:ea typeface="Raleway"/>
                <a:cs typeface="Raleway"/>
                <a:sym typeface="Raleway"/>
              </a:rPr>
              <a:t>шифрування даних</a:t>
            </a:r>
            <a:r>
              <a:rPr i="0" lang="en-US" sz="2950" u="none" cap="none" strike="noStrike">
                <a:latin typeface="Raleway"/>
                <a:ea typeface="Raleway"/>
                <a:cs typeface="Raleway"/>
                <a:sym typeface="Raleway"/>
              </a:rPr>
              <a:t>. </a:t>
            </a:r>
            <a:endParaRPr i="0" sz="2950" u="none" cap="none" strike="noStrike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t/>
            </a:r>
            <a:endParaRPr i="0" sz="225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242744"/>
            <a:ext cx="13258800" cy="61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2068830"/>
            <a:ext cx="3100387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1937" y="2068830"/>
            <a:ext cx="3100387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58074" y="2068830"/>
            <a:ext cx="3100387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44212" y="2068830"/>
            <a:ext cx="3100387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86600" y="708856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3"/>
          <p:cNvSpPr txBox="1"/>
          <p:nvPr/>
        </p:nvSpPr>
        <p:spPr>
          <a:xfrm>
            <a:off x="714374" y="7660064"/>
            <a:ext cx="1320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 що робити, якщо повідомлення все одно перехоплять?</a:t>
            </a:r>
            <a:endParaRPr sz="1700"/>
          </a:p>
        </p:txBody>
      </p:sp>
      <p:sp>
        <p:nvSpPr>
          <p:cNvPr id="208" name="Google Shape;208;p33"/>
          <p:cNvSpPr txBox="1"/>
          <p:nvPr/>
        </p:nvSpPr>
        <p:spPr>
          <a:xfrm>
            <a:off x="1089850" y="4754880"/>
            <a:ext cx="229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Невидиме чорнило</a:t>
            </a:r>
            <a:endParaRPr sz="1700"/>
          </a:p>
        </p:txBody>
      </p:sp>
      <p:sp>
        <p:nvSpPr>
          <p:cNvPr id="209" name="Google Shape;209;p33"/>
          <p:cNvSpPr txBox="1"/>
          <p:nvPr/>
        </p:nvSpPr>
        <p:spPr>
          <a:xfrm>
            <a:off x="685800" y="5132070"/>
            <a:ext cx="3100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Використання соку лимона або молока, що проявляються лише під дією тепла.</a:t>
            </a:r>
            <a:endParaRPr sz="1700"/>
          </a:p>
        </p:txBody>
      </p:sp>
      <p:sp>
        <p:nvSpPr>
          <p:cNvPr id="210" name="Google Shape;210;p33"/>
          <p:cNvSpPr txBox="1"/>
          <p:nvPr/>
        </p:nvSpPr>
        <p:spPr>
          <a:xfrm>
            <a:off x="4764024" y="4754880"/>
            <a:ext cx="171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Вузлики (Кіпу)</a:t>
            </a:r>
            <a:endParaRPr sz="1700"/>
          </a:p>
        </p:txBody>
      </p:sp>
      <p:sp>
        <p:nvSpPr>
          <p:cNvPr id="211" name="Google Shape;211;p33"/>
          <p:cNvSpPr txBox="1"/>
          <p:nvPr/>
        </p:nvSpPr>
        <p:spPr>
          <a:xfrm>
            <a:off x="4071937" y="5132070"/>
            <a:ext cx="3100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Складна система вузлів у інків для передачі даних без жодного написаного слова.</a:t>
            </a:r>
            <a:endParaRPr sz="1700"/>
          </a:p>
        </p:txBody>
      </p:sp>
      <p:sp>
        <p:nvSpPr>
          <p:cNvPr id="212" name="Google Shape;212;p33"/>
          <p:cNvSpPr txBox="1"/>
          <p:nvPr/>
        </p:nvSpPr>
        <p:spPr>
          <a:xfrm>
            <a:off x="8462200" y="4754880"/>
            <a:ext cx="109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Посланці</a:t>
            </a:r>
            <a:endParaRPr sz="1700"/>
          </a:p>
        </p:txBody>
      </p:sp>
      <p:sp>
        <p:nvSpPr>
          <p:cNvPr id="213" name="Google Shape;213;p33"/>
          <p:cNvSpPr txBox="1"/>
          <p:nvPr/>
        </p:nvSpPr>
        <p:spPr>
          <a:xfrm>
            <a:off x="7458074" y="5132070"/>
            <a:ext cx="3100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Татуювання на голеній голові або запам'ятовування тексту для фізичної безпеки.</a:t>
            </a:r>
            <a:endParaRPr sz="1700"/>
          </a:p>
        </p:txBody>
      </p:sp>
      <p:sp>
        <p:nvSpPr>
          <p:cNvPr id="214" name="Google Shape;214;p33"/>
          <p:cNvSpPr txBox="1"/>
          <p:nvPr/>
        </p:nvSpPr>
        <p:spPr>
          <a:xfrm>
            <a:off x="11914345" y="4754880"/>
            <a:ext cx="96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Печатки</a:t>
            </a:r>
            <a:endParaRPr sz="1700"/>
          </a:p>
        </p:txBody>
      </p:sp>
      <p:sp>
        <p:nvSpPr>
          <p:cNvPr id="215" name="Google Shape;215;p33"/>
          <p:cNvSpPr txBox="1"/>
          <p:nvPr/>
        </p:nvSpPr>
        <p:spPr>
          <a:xfrm>
            <a:off x="10844212" y="5132070"/>
            <a:ext cx="3100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Використання сургучу для перевірки цілісності повідомлення та статусу автора.</a:t>
            </a:r>
            <a:endParaRPr sz="1700"/>
          </a:p>
        </p:txBody>
      </p:sp>
      <p:pic>
        <p:nvPicPr>
          <p:cNvPr descr="image.png" id="216" name="Google Shape;216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51884" y="6414194"/>
            <a:ext cx="24003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3"/>
          <p:cNvSpPr txBox="1"/>
          <p:nvPr/>
        </p:nvSpPr>
        <p:spPr>
          <a:xfrm>
            <a:off x="4006214" y="6431339"/>
            <a:ext cx="2994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Умовні сигнали (вогонь та дим)</a:t>
            </a:r>
            <a:endParaRPr sz="1700"/>
          </a:p>
        </p:txBody>
      </p:sp>
      <p:pic>
        <p:nvPicPr>
          <p:cNvPr descr="image.png" id="218" name="Google Shape;218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58074" y="641419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3"/>
          <p:cNvSpPr txBox="1"/>
          <p:nvPr/>
        </p:nvSpPr>
        <p:spPr>
          <a:xfrm>
            <a:off x="7846694" y="6431339"/>
            <a:ext cx="313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Барабанний код та звукові знаки</a:t>
            </a:r>
            <a:endParaRPr sz="1700"/>
          </a:p>
        </p:txBody>
      </p:sp>
      <p:pic>
        <p:nvPicPr>
          <p:cNvPr descr="image.png" id="220" name="Google Shape;220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7230" y="2080260"/>
            <a:ext cx="3077527" cy="249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083367" y="2080260"/>
            <a:ext cx="3077527" cy="249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3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469504" y="2080260"/>
            <a:ext cx="3077527" cy="249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3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855642" y="2080260"/>
            <a:ext cx="3077527" cy="249174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 txBox="1"/>
          <p:nvPr/>
        </p:nvSpPr>
        <p:spPr>
          <a:xfrm>
            <a:off x="685800" y="685800"/>
            <a:ext cx="12505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До появи шифрів: мистецтво приховування</a:t>
            </a:r>
            <a:endParaRPr sz="1700"/>
          </a:p>
        </p:txBody>
      </p:sp>
      <p:sp>
        <p:nvSpPr>
          <p:cNvPr id="225" name="Google Shape;225;p33"/>
          <p:cNvSpPr/>
          <p:nvPr/>
        </p:nvSpPr>
        <p:spPr>
          <a:xfrm>
            <a:off x="685800" y="1588770"/>
            <a:ext cx="11910300" cy="23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54850" lIns="109700" spcFirstLastPara="1" rIns="10970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0" y="573425"/>
            <a:ext cx="142953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000000"/>
                </a:solidFill>
              </a:rPr>
              <a:t>Де ми використовуємо криптографію щодня </a:t>
            </a:r>
            <a:endParaRPr b="1" sz="4600">
              <a:solidFill>
                <a:srgbClr val="000000"/>
              </a:solidFill>
            </a:endParaRPr>
          </a:p>
        </p:txBody>
      </p:sp>
      <p:pic>
        <p:nvPicPr>
          <p:cNvPr id="232" name="Google Shape;2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775" y="1945320"/>
            <a:ext cx="8969222" cy="597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147"/>
            <a:ext cx="14630400" cy="8165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6" name="Google Shape;24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114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6"/>
          <p:cNvSpPr/>
          <p:nvPr/>
        </p:nvSpPr>
        <p:spPr>
          <a:xfrm>
            <a:off x="6152299" y="589200"/>
            <a:ext cx="83724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300"/>
              <a:buFont typeface="Merriweather"/>
              <a:buNone/>
            </a:pPr>
            <a:r>
              <a:rPr b="1" i="0" lang="en-US" sz="43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Історія розвитку шифрування</a:t>
            </a:r>
            <a:endParaRPr i="0" sz="43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8" name="Google Shape;248;p36"/>
          <p:cNvSpPr/>
          <p:nvPr/>
        </p:nvSpPr>
        <p:spPr>
          <a:xfrm>
            <a:off x="6506051" y="2314932"/>
            <a:ext cx="30480" cy="5309949"/>
          </a:xfrm>
          <a:prstGeom prst="roundRect">
            <a:avLst>
              <a:gd fmla="val 303837" name="adj"/>
            </a:avLst>
          </a:prstGeom>
          <a:solidFill>
            <a:srgbClr val="E5BE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6"/>
          <p:cNvSpPr/>
          <p:nvPr/>
        </p:nvSpPr>
        <p:spPr>
          <a:xfrm>
            <a:off x="6723578" y="2795707"/>
            <a:ext cx="661392" cy="30480"/>
          </a:xfrm>
          <a:prstGeom prst="roundRect">
            <a:avLst>
              <a:gd fmla="val 303837" name="adj"/>
            </a:avLst>
          </a:prstGeom>
          <a:solidFill>
            <a:srgbClr val="E5BE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6"/>
          <p:cNvSpPr/>
          <p:nvPr/>
        </p:nvSpPr>
        <p:spPr>
          <a:xfrm>
            <a:off x="6258044" y="2562939"/>
            <a:ext cx="496014" cy="496014"/>
          </a:xfrm>
          <a:prstGeom prst="roundRect">
            <a:avLst>
              <a:gd fmla="val 18671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6"/>
          <p:cNvSpPr/>
          <p:nvPr/>
        </p:nvSpPr>
        <p:spPr>
          <a:xfrm>
            <a:off x="6340733" y="2604254"/>
            <a:ext cx="330637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600"/>
              <a:buFont typeface="Merriweather"/>
              <a:buNone/>
            </a:pPr>
            <a:r>
              <a:rPr b="1" i="0" lang="en-US" sz="26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1</a:t>
            </a:r>
            <a:endParaRPr b="0" i="0" sz="2600" u="none" cap="none" strike="noStrike"/>
          </a:p>
        </p:txBody>
      </p:sp>
      <p:sp>
        <p:nvSpPr>
          <p:cNvPr id="252" name="Google Shape;252;p36"/>
          <p:cNvSpPr/>
          <p:nvPr/>
        </p:nvSpPr>
        <p:spPr>
          <a:xfrm>
            <a:off x="7608579" y="2535325"/>
            <a:ext cx="4841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150"/>
              <a:buFont typeface="Merriweather"/>
              <a:buNone/>
            </a:pPr>
            <a:r>
              <a:rPr b="1" i="0" lang="en-US" sz="30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Стародавні часи</a:t>
            </a:r>
            <a:endParaRPr i="0" sz="30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3" name="Google Shape;253;p36"/>
          <p:cNvSpPr/>
          <p:nvPr/>
        </p:nvSpPr>
        <p:spPr>
          <a:xfrm>
            <a:off x="7608570" y="3012043"/>
            <a:ext cx="6250186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00"/>
              <a:buFont typeface="Open Sans"/>
              <a:buNone/>
            </a:pPr>
            <a:r>
              <a:rPr i="0" lang="en-US" sz="22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Шифр Цезаря використовувався для захисту військових повідомлень.</a:t>
            </a:r>
            <a:endParaRPr i="0" sz="22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4" name="Google Shape;254;p36"/>
          <p:cNvSpPr/>
          <p:nvPr/>
        </p:nvSpPr>
        <p:spPr>
          <a:xfrm>
            <a:off x="6723578" y="4639151"/>
            <a:ext cx="661392" cy="30480"/>
          </a:xfrm>
          <a:prstGeom prst="roundRect">
            <a:avLst>
              <a:gd fmla="val 303837" name="adj"/>
            </a:avLst>
          </a:prstGeom>
          <a:solidFill>
            <a:srgbClr val="E5BE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/>
          <p:nvPr/>
        </p:nvSpPr>
        <p:spPr>
          <a:xfrm>
            <a:off x="6258044" y="4406384"/>
            <a:ext cx="496014" cy="496014"/>
          </a:xfrm>
          <a:prstGeom prst="roundRect">
            <a:avLst>
              <a:gd fmla="val 18671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6"/>
          <p:cNvSpPr/>
          <p:nvPr/>
        </p:nvSpPr>
        <p:spPr>
          <a:xfrm>
            <a:off x="6340733" y="4447699"/>
            <a:ext cx="330637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600"/>
              <a:buFont typeface="Merriweather"/>
              <a:buNone/>
            </a:pPr>
            <a:r>
              <a:rPr b="1" i="0" lang="en-US" sz="26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b="0" i="0" sz="2600" u="none" cap="none" strike="noStrike"/>
          </a:p>
        </p:txBody>
      </p:sp>
      <p:sp>
        <p:nvSpPr>
          <p:cNvPr id="257" name="Google Shape;257;p36"/>
          <p:cNvSpPr/>
          <p:nvPr/>
        </p:nvSpPr>
        <p:spPr>
          <a:xfrm>
            <a:off x="7608579" y="4378750"/>
            <a:ext cx="5028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150"/>
              <a:buFont typeface="Merriweather"/>
              <a:buNone/>
            </a:pPr>
            <a:r>
              <a:rPr b="1" i="0" lang="en-US" sz="30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Середньовіччя</a:t>
            </a:r>
            <a:endParaRPr i="0" sz="30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8" name="Google Shape;258;p36"/>
          <p:cNvSpPr/>
          <p:nvPr/>
        </p:nvSpPr>
        <p:spPr>
          <a:xfrm>
            <a:off x="7608570" y="4855488"/>
            <a:ext cx="6250186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00"/>
              <a:buFont typeface="Open Sans"/>
              <a:buNone/>
            </a:pPr>
            <a:r>
              <a:rPr i="0" lang="en-US" sz="22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Складніші шифри, такі як </a:t>
            </a:r>
            <a:r>
              <a:rPr lang="en-US" sz="2200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поліалфавітні</a:t>
            </a:r>
            <a:r>
              <a:rPr i="0" lang="en-US" sz="22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,</a:t>
            </a:r>
            <a:endParaRPr sz="2200">
              <a:solidFill>
                <a:srgbClr val="403C4E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00"/>
              <a:buFont typeface="Open Sans"/>
              <a:buNone/>
            </a:pPr>
            <a:r>
              <a:rPr i="0" lang="en-US" sz="22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стають популярними.  </a:t>
            </a:r>
            <a:r>
              <a:rPr i="0" lang="en-US" sz="17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i="0" sz="17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9" name="Google Shape;259;p36"/>
          <p:cNvSpPr/>
          <p:nvPr/>
        </p:nvSpPr>
        <p:spPr>
          <a:xfrm>
            <a:off x="6723578" y="6482596"/>
            <a:ext cx="661392" cy="30480"/>
          </a:xfrm>
          <a:prstGeom prst="roundRect">
            <a:avLst>
              <a:gd fmla="val 303837" name="adj"/>
            </a:avLst>
          </a:prstGeom>
          <a:solidFill>
            <a:srgbClr val="E5BE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6"/>
          <p:cNvSpPr/>
          <p:nvPr/>
        </p:nvSpPr>
        <p:spPr>
          <a:xfrm>
            <a:off x="6258044" y="6249829"/>
            <a:ext cx="496014" cy="496014"/>
          </a:xfrm>
          <a:prstGeom prst="roundRect">
            <a:avLst>
              <a:gd fmla="val 18671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6"/>
          <p:cNvSpPr/>
          <p:nvPr/>
        </p:nvSpPr>
        <p:spPr>
          <a:xfrm>
            <a:off x="6340733" y="6291143"/>
            <a:ext cx="330637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600"/>
              <a:buFont typeface="Merriweather"/>
              <a:buNone/>
            </a:pPr>
            <a:r>
              <a:rPr b="1" i="0" lang="en-US" sz="26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endParaRPr b="0" i="0" sz="2600" u="none" cap="none" strike="noStrike"/>
          </a:p>
        </p:txBody>
      </p:sp>
      <p:sp>
        <p:nvSpPr>
          <p:cNvPr id="262" name="Google Shape;262;p36"/>
          <p:cNvSpPr/>
          <p:nvPr/>
        </p:nvSpPr>
        <p:spPr>
          <a:xfrm>
            <a:off x="7608570" y="6222206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150"/>
              <a:buFont typeface="Merriweather"/>
              <a:buNone/>
            </a:pPr>
            <a:r>
              <a:rPr b="1" i="0" lang="en-US" sz="30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Сучасність</a:t>
            </a:r>
            <a:endParaRPr i="0" sz="30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3" name="Google Shape;263;p36"/>
          <p:cNvSpPr/>
          <p:nvPr/>
        </p:nvSpPr>
        <p:spPr>
          <a:xfrm>
            <a:off x="7608570" y="6698933"/>
            <a:ext cx="6250186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00"/>
              <a:buFont typeface="Open Sans"/>
              <a:buNone/>
            </a:pPr>
            <a:r>
              <a:rPr i="0" lang="en-US" sz="220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Розвиток комп'ютерів призвів до появи нових алгоритмів, таких як AES.</a:t>
            </a:r>
            <a:endParaRPr i="0" sz="22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25" y="241300"/>
            <a:ext cx="5694875" cy="759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7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0800" y="1137525"/>
            <a:ext cx="6411175" cy="64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7"/>
          <p:cNvSpPr txBox="1"/>
          <p:nvPr/>
        </p:nvSpPr>
        <p:spPr>
          <a:xfrm>
            <a:off x="7757725" y="583425"/>
            <a:ext cx="553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Рьокський рунічний камінь</a:t>
            </a:r>
            <a:endParaRPr sz="2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8"/>
          <p:cNvPicPr preferRelativeResize="0"/>
          <p:nvPr/>
        </p:nvPicPr>
        <p:blipFill rotWithShape="1">
          <a:blip r:embed="rId3">
            <a:alphaModFix/>
          </a:blip>
          <a:srcRect b="0" l="0" r="11910" t="0"/>
          <a:stretch/>
        </p:blipFill>
        <p:spPr>
          <a:xfrm>
            <a:off x="6681250" y="579600"/>
            <a:ext cx="7823375" cy="673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8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11400"/>
            <a:ext cx="6376450" cy="63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8"/>
          <p:cNvSpPr txBox="1"/>
          <p:nvPr/>
        </p:nvSpPr>
        <p:spPr>
          <a:xfrm>
            <a:off x="962825" y="816650"/>
            <a:ext cx="1087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Тайнописи</a:t>
            </a:r>
            <a:endParaRPr sz="3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425" y="2345275"/>
            <a:ext cx="5306477" cy="303272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9"/>
          <p:cNvSpPr txBox="1"/>
          <p:nvPr/>
        </p:nvSpPr>
        <p:spPr>
          <a:xfrm>
            <a:off x="377100" y="455000"/>
            <a:ext cx="13787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Технічні засоби шифрування </a:t>
            </a:r>
            <a:endParaRPr b="1" sz="41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87" name="Google Shape;28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15425" y="1708750"/>
            <a:ext cx="5548775" cy="55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/>
          <p:nvPr/>
        </p:nvSpPr>
        <p:spPr>
          <a:xfrm>
            <a:off x="891075" y="1360650"/>
            <a:ext cx="4708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Скитала</a:t>
            </a:r>
            <a:r>
              <a:rPr lang="en-US" sz="1800"/>
              <a:t> — один із найдавніших пристроїв для шифрування, який використовували у Стародавній Спарті понад 2500 років тому. Смужку паперу або пергаменту намотували на паличку певного діаметра й записували повідомлення вздовж неї. Після розмотування літери змінювали своє розташування, і текст ставав незрозумілим. Прочитати повідомлення можна було лише намотавши стрічку на паличку такого самого діаметра, яка виконувала роль ключа. </a:t>
            </a:r>
            <a:endParaRPr sz="2100"/>
          </a:p>
        </p:txBody>
      </p:sp>
      <p:pic>
        <p:nvPicPr>
          <p:cNvPr id="294" name="Google Shape;294;p40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7525" y="1623275"/>
            <a:ext cx="3261350" cy="326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2700" y="4402675"/>
            <a:ext cx="5306477" cy="303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/>
        </p:nvSpPr>
        <p:spPr>
          <a:xfrm>
            <a:off x="5154375" y="1930125"/>
            <a:ext cx="6850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Практика.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Спробуйте зробити власну скиталу. Використайте будь-який циліндричний предмет: олівець, ручку або маркер. Запишіть коротке повідомлення, зніміть стрічку й перевірте, чи зможете прочитати його без намотування. 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